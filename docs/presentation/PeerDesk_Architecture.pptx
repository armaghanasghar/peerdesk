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PeerDesk (repo nickname 'TeamViewer') is a hobby/internal tool. Deploy model: self-hosted server on the Ubuntu host; clients reach IP:port directly over LAN or VPN. Default port 4473.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 and Riley are specialisations of the Viewer actor; their capabilities are identical. Jordan owns J0 (start server, issue logins) and benefits from J3 — the server keeps listening after a viewer leaves. The Ubuntu X11 desktop is a secondary system actor: the server captures it and injects input into it via XTest.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Ownership (DECISIONS B1/B2/B4): the server owns credentials, session occupancy, capture, encode and inject. The client owns the connection UI, decode, render, local input capture and coordinate mapping. shared/ owns wire types, TLS helpers, Argon2/HMAC and coordinate mapping. There is no database — just a users file of salted Argon2id hashes plus a self-signed cert in the server data dir.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 is challenge-response: server sends salt + nonce + Argon2 cost params; the client derives Argon2id(password, salt) locally and returns HMAC-SHA256(hash, nonce). The server compares against its stored hash in constant time. Failure reasons are specific (bad credentials vs busy vs protocol) so the viewer knows whether to check VPN, password, or wait.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peerdesk-smoke covers protocol round-trips, auth, the busy-session rejection and reconnect. run_demo.sh starts the server in synthetic mode (canvas, no inject) by default, or real X11 with 'x11'. Wayland hosts fail fast with 'X11 required for v1'.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p:txBody>
      </p:sp>
      <p:sp>
        <p:nvSpPr>
          <p:cNvPr id="3" name="TextBox 2"/>
          <p:cNvSpPr txBox="1"/>
          <p:nvPr/>
        </p:nvSpPr>
        <p:spPr>
          <a:xfrm>
            <a:off x="457200" y="128016"/>
            <a:ext cx="10058400" cy="502920"/>
          </a:xfrm>
          <a:prstGeom prst="rect">
            <a:avLst/>
          </a:prstGeom>
          <a:noFill/>
        </p:spPr>
        <p:txBody>
          <a:bodyPr wrap="square" anchor="t" lIns="36576" rIns="36576" tIns="18288" bIns="18288">
            <a:spAutoFit/>
          </a:bodyPr>
          <a:lstStyle/>
          <a:p>
            <a:pPr algn="l"/>
            <a:r>
              <a:rPr sz="2800" b="1" i="0">
                <a:solidFill>
                  <a:srgbClr val="FFFFFF"/>
                </a:solidFill>
                <a:latin typeface="Calibri"/>
              </a:rPr>
              <a:t>PeerDesk — Self-hosted Remote Desktop</a:t>
            </a:r>
          </a:p>
        </p:txBody>
      </p:sp>
      <p:sp>
        <p:nvSpPr>
          <p:cNvPr id="4" name="TextBox 3"/>
          <p:cNvSpPr txBox="1"/>
          <p:nvPr/>
        </p:nvSpPr>
        <p:spPr>
          <a:xfrm>
            <a:off x="457200" y="566928"/>
            <a:ext cx="10515600" cy="320040"/>
          </a:xfrm>
          <a:prstGeom prst="rect">
            <a:avLst/>
          </a:prstGeom>
          <a:noFill/>
        </p:spPr>
        <p:txBody>
          <a:bodyPr wrap="square" anchor="t" lIns="36576" rIns="36576" tIns="18288" bIns="18288">
            <a:spAutoFit/>
          </a:bodyPr>
          <a:lstStyle/>
          <a:p>
            <a:pPr algn="l"/>
            <a:r>
              <a:rPr sz="1400" b="0" i="0">
                <a:solidFill>
                  <a:srgbClr val="C9D3E3"/>
                </a:solidFill>
                <a:latin typeface="Calibri"/>
              </a:rPr>
              <a:t>View and control an Ubuntu workstation from macOS or Ubuntu, over LAN/VPN — no cloud, no licence</a:t>
            </a:r>
          </a:p>
        </p:txBody>
      </p:sp>
      <p:sp>
        <p:nvSpPr>
          <p:cNvPr id="5" name="TextBox 4"/>
          <p:cNvSpPr txBox="1"/>
          <p:nvPr/>
        </p:nvSpPr>
        <p:spPr>
          <a:xfrm>
            <a:off x="11155680" y="274320"/>
            <a:ext cx="731520" cy="411480"/>
          </a:xfrm>
          <a:prstGeom prst="rect">
            <a:avLst/>
          </a:prstGeom>
          <a:noFill/>
        </p:spPr>
        <p:txBody>
          <a:bodyPr wrap="square" anchor="t" lIns="36576" rIns="36576" tIns="18288" bIns="18288">
            <a:spAutoFit/>
          </a:bodyPr>
          <a:lstStyle/>
          <a:p>
            <a:pPr algn="r"/>
            <a:r>
              <a:rPr sz="1300" b="0" i="0">
                <a:solidFill>
                  <a:srgbClr val="C9D3E3"/>
                </a:solidFill>
                <a:latin typeface="Calibri"/>
              </a:rPr>
              <a:t>1 / 5</a:t>
            </a:r>
          </a:p>
        </p:txBody>
      </p:sp>
      <p:sp>
        <p:nvSpPr>
          <p:cNvPr id="6" name="TextBox 5"/>
          <p:cNvSpPr txBox="1"/>
          <p:nvPr/>
        </p:nvSpPr>
        <p:spPr>
          <a:xfrm>
            <a:off x="457200" y="6492240"/>
            <a:ext cx="7315200" cy="274320"/>
          </a:xfrm>
          <a:prstGeom prst="rect">
            <a:avLst/>
          </a:prstGeom>
          <a:noFill/>
        </p:spPr>
        <p:txBody>
          <a:bodyPr wrap="square" anchor="t" lIns="36576" rIns="36576" tIns="18288" bIns="18288">
            <a:spAutoFit/>
          </a:bodyPr>
          <a:lstStyle/>
          <a:p>
            <a:pPr algn="l"/>
            <a:r>
              <a:rPr sz="1000" b="0" i="0">
                <a:solidFill>
                  <a:srgbClr val="5F6B7A"/>
                </a:solidFill>
                <a:latin typeface="Calibri"/>
              </a:rPr>
              <a:t>PeerDesk  ·  LAN/VPN remote desktop for small teams</a:t>
            </a:r>
          </a:p>
        </p:txBody>
      </p:sp>
      <p:sp>
        <p:nvSpPr>
          <p:cNvPr id="7" name="TextBox 6"/>
          <p:cNvSpPr txBox="1"/>
          <p:nvPr/>
        </p:nvSpPr>
        <p:spPr>
          <a:xfrm>
            <a:off x="457200" y="1188720"/>
            <a:ext cx="6949440" cy="365760"/>
          </a:xfrm>
          <a:prstGeom prst="rect">
            <a:avLst/>
          </a:prstGeom>
          <a:noFill/>
        </p:spPr>
        <p:txBody>
          <a:bodyPr wrap="square" anchor="t" lIns="36576" rIns="36576" tIns="18288" bIns="18288">
            <a:spAutoFit/>
          </a:bodyPr>
          <a:lstStyle/>
          <a:p>
            <a:pPr algn="l"/>
            <a:r>
              <a:rPr sz="1800" b="1" i="0">
                <a:solidFill>
                  <a:srgbClr val="1F2A44"/>
                </a:solidFill>
                <a:latin typeface="Calibri"/>
              </a:rPr>
              <a:t>The problem</a:t>
            </a:r>
          </a:p>
        </p:txBody>
      </p:sp>
      <p:sp>
        <p:nvSpPr>
          <p:cNvPr id="8" name="TextBox 7"/>
          <p:cNvSpPr txBox="1"/>
          <p:nvPr/>
        </p:nvSpPr>
        <p:spPr>
          <a:xfrm>
            <a:off x="457200" y="1600200"/>
            <a:ext cx="6949440" cy="1463040"/>
          </a:xfrm>
          <a:prstGeom prst="rect">
            <a:avLst/>
          </a:prstGeom>
          <a:noFill/>
        </p:spPr>
        <p:txBody>
          <a:bodyPr wrap="square">
            <a:spAutoFit/>
          </a:bodyPr>
          <a:lstStyle/>
          <a:p>
            <a:pPr>
              <a:spcAft>
                <a:spcPts val="400"/>
              </a:spcAft>
            </a:pPr>
            <a:r>
              <a:rPr sz="1300">
                <a:solidFill>
                  <a:srgbClr val="0E8F7E"/>
                </a:solidFill>
                <a:latin typeface="Calibri"/>
              </a:rPr>
              <a:t>▪  </a:t>
            </a:r>
            <a:r>
              <a:rPr sz="1300" b="0">
                <a:solidFill>
                  <a:srgbClr val="222833"/>
                </a:solidFill>
                <a:latin typeface="Calibri"/>
              </a:rPr>
              <a:t>Small team pays for, or fights with, commercial remote-desktop tools for simple LAN/VPN control</a:t>
            </a:r>
          </a:p>
          <a:p>
            <a:pPr>
              <a:spcAft>
                <a:spcPts val="400"/>
              </a:spcAft>
            </a:pPr>
            <a:r>
              <a:rPr sz="1300">
                <a:solidFill>
                  <a:srgbClr val="0E8F7E"/>
                </a:solidFill>
                <a:latin typeface="Calibri"/>
              </a:rPr>
              <a:t>▪  </a:t>
            </a:r>
            <a:r>
              <a:rPr sz="1300" b="0">
                <a:solidFill>
                  <a:srgbClr val="222833"/>
                </a:solidFill>
                <a:latin typeface="Calibri"/>
              </a:rPr>
              <a:t>Sessions drop and someone has to walk over and restart the host agent</a:t>
            </a:r>
          </a:p>
          <a:p>
            <a:pPr>
              <a:spcAft>
                <a:spcPts val="400"/>
              </a:spcAft>
            </a:pPr>
            <a:r>
              <a:rPr sz="1300">
                <a:solidFill>
                  <a:srgbClr val="0E8F7E"/>
                </a:solidFill>
                <a:latin typeface="Calibri"/>
              </a:rPr>
              <a:t>▪  </a:t>
            </a:r>
            <a:r>
              <a:rPr sz="1300" b="0">
                <a:solidFill>
                  <a:srgbClr val="222833"/>
                </a:solidFill>
                <a:latin typeface="Calibri"/>
              </a:rPr>
              <a:t>Naive screen capture feels laggy; Wayland/permission failures are silent</a:t>
            </a:r>
          </a:p>
        </p:txBody>
      </p:sp>
      <p:sp>
        <p:nvSpPr>
          <p:cNvPr id="9" name="TextBox 8"/>
          <p:cNvSpPr txBox="1"/>
          <p:nvPr/>
        </p:nvSpPr>
        <p:spPr>
          <a:xfrm>
            <a:off x="457200" y="2971800"/>
            <a:ext cx="6949440" cy="365760"/>
          </a:xfrm>
          <a:prstGeom prst="rect">
            <a:avLst/>
          </a:prstGeom>
          <a:noFill/>
        </p:spPr>
        <p:txBody>
          <a:bodyPr wrap="square" anchor="t" lIns="36576" rIns="36576" tIns="18288" bIns="18288">
            <a:spAutoFit/>
          </a:bodyPr>
          <a:lstStyle/>
          <a:p>
            <a:pPr algn="l"/>
            <a:r>
              <a:rPr sz="1800" b="1" i="0">
                <a:solidFill>
                  <a:srgbClr val="1F2A44"/>
                </a:solidFill>
                <a:latin typeface="Calibri"/>
              </a:rPr>
              <a:t>What PeerDesk delivers (v1)</a:t>
            </a:r>
          </a:p>
        </p:txBody>
      </p:sp>
      <p:sp>
        <p:nvSpPr>
          <p:cNvPr id="10" name="TextBox 9"/>
          <p:cNvSpPr txBox="1"/>
          <p:nvPr/>
        </p:nvSpPr>
        <p:spPr>
          <a:xfrm>
            <a:off x="457200" y="3383280"/>
            <a:ext cx="6949440" cy="1828800"/>
          </a:xfrm>
          <a:prstGeom prst="rect">
            <a:avLst/>
          </a:prstGeom>
          <a:noFill/>
        </p:spPr>
        <p:txBody>
          <a:bodyPr wrap="square">
            <a:spAutoFit/>
          </a:bodyPr>
          <a:lstStyle/>
          <a:p>
            <a:pPr>
              <a:spcAft>
                <a:spcPts val="400"/>
              </a:spcAft>
            </a:pPr>
            <a:r>
              <a:rPr sz="1300">
                <a:solidFill>
                  <a:srgbClr val="0E8F7E"/>
                </a:solidFill>
                <a:latin typeface="Calibri"/>
              </a:rPr>
              <a:t>▪  </a:t>
            </a:r>
            <a:r>
              <a:rPr sz="1300" b="1">
                <a:solidFill>
                  <a:srgbClr val="222833"/>
                </a:solidFill>
                <a:latin typeface="Calibri"/>
              </a:rPr>
              <a:t>Two native C++ binaries: </a:t>
            </a:r>
            <a:r>
              <a:rPr sz="1200" b="0">
                <a:solidFill>
                  <a:srgbClr val="222833"/>
                </a:solidFill>
                <a:latin typeface="Consolas"/>
              </a:rPr>
              <a:t>peerdesk-server</a:t>
            </a:r>
            <a:r>
              <a:rPr sz="1300" b="0">
                <a:solidFill>
                  <a:srgbClr val="222833"/>
                </a:solidFill>
                <a:latin typeface="Calibri"/>
              </a:rPr>
              <a:t> on the Ubuntu host, </a:t>
            </a:r>
            <a:r>
              <a:rPr sz="1200" b="0">
                <a:solidFill>
                  <a:srgbClr val="222833"/>
                </a:solidFill>
                <a:latin typeface="Consolas"/>
              </a:rPr>
              <a:t>peerdesk-client</a:t>
            </a:r>
            <a:r>
              <a:rPr sz="1300" b="0">
                <a:solidFill>
                  <a:srgbClr val="222833"/>
                </a:solidFill>
                <a:latin typeface="Calibri"/>
              </a:rPr>
              <a:t> (Qt6) on the viewer</a:t>
            </a:r>
          </a:p>
          <a:p>
            <a:pPr>
              <a:spcAft>
                <a:spcPts val="400"/>
              </a:spcAft>
            </a:pPr>
            <a:r>
              <a:rPr sz="1300">
                <a:solidFill>
                  <a:srgbClr val="0E8F7E"/>
                </a:solidFill>
                <a:latin typeface="Calibri"/>
              </a:rPr>
              <a:t>▪  </a:t>
            </a:r>
            <a:r>
              <a:rPr sz="1300" b="1">
                <a:solidFill>
                  <a:srgbClr val="222833"/>
                </a:solidFill>
                <a:latin typeface="Calibri"/>
              </a:rPr>
              <a:t>Secure by default: </a:t>
            </a:r>
            <a:r>
              <a:rPr sz="1300" b="0">
                <a:solidFill>
                  <a:srgbClr val="222833"/>
                </a:solidFill>
                <a:latin typeface="Calibri"/>
              </a:rPr>
              <a:t>TLS 1.2+ on every byte; Argon2id + HMAC challenge-response — the password never crosses the wire</a:t>
            </a:r>
          </a:p>
          <a:p>
            <a:pPr>
              <a:spcAft>
                <a:spcPts val="400"/>
              </a:spcAft>
            </a:pPr>
            <a:r>
              <a:rPr sz="1300">
                <a:solidFill>
                  <a:srgbClr val="0E8F7E"/>
                </a:solidFill>
                <a:latin typeface="Calibri"/>
              </a:rPr>
              <a:t>▪  </a:t>
            </a:r>
            <a:r>
              <a:rPr sz="1300" b="1">
                <a:solidFill>
                  <a:srgbClr val="222833"/>
                </a:solidFill>
                <a:latin typeface="Calibri"/>
              </a:rPr>
              <a:t>Live view + full control: </a:t>
            </a:r>
            <a:r>
              <a:rPr sz="1300" b="0">
                <a:solidFill>
                  <a:srgbClr val="222833"/>
                </a:solidFill>
                <a:latin typeface="Calibri"/>
              </a:rPr>
              <a:t>primary X11 display streamed; mouse &amp; keyboard injected with coordinate mapping</a:t>
            </a:r>
          </a:p>
          <a:p>
            <a:pPr>
              <a:spcAft>
                <a:spcPts val="400"/>
              </a:spcAft>
            </a:pPr>
            <a:r>
              <a:rPr sz="1300">
                <a:solidFill>
                  <a:srgbClr val="0E8F7E"/>
                </a:solidFill>
                <a:latin typeface="Calibri"/>
              </a:rPr>
              <a:t>▪  </a:t>
            </a:r>
            <a:r>
              <a:rPr sz="1300" b="1">
                <a:solidFill>
                  <a:srgbClr val="222833"/>
                </a:solidFill>
                <a:latin typeface="Calibri"/>
              </a:rPr>
              <a:t>Resilient: </a:t>
            </a:r>
            <a:r>
              <a:rPr sz="1300" b="0">
                <a:solidFill>
                  <a:srgbClr val="222833"/>
                </a:solidFill>
                <a:latin typeface="Calibri"/>
              </a:rPr>
              <a:t>one viewer per host; disconnect/reconnect without restarting the server</a:t>
            </a:r>
          </a:p>
        </p:txBody>
      </p:sp>
      <p:sp>
        <p:nvSpPr>
          <p:cNvPr id="11" name="Rounded Rectangle 10"/>
          <p:cNvSpPr/>
          <p:nvPr/>
        </p:nvSpPr>
        <p:spPr>
          <a:xfrm>
            <a:off x="457200" y="5303520"/>
            <a:ext cx="6949440" cy="1005840"/>
          </a:xfrm>
          <a:prstGeom prst="roundRect">
            <a:avLst>
              <a:gd name="adj" fmla="val 8000"/>
            </a:avLst>
          </a:prstGeom>
          <a:solidFill>
            <a:srgbClr val="E6F6F3"/>
          </a:solidFill>
          <a:ln w="15875">
            <a:solidFill>
              <a:srgbClr val="0E8F7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0E8F7E"/>
                </a:solidFill>
                <a:latin typeface="Calibri"/>
              </a:rPr>
              <a:t>Success metric  </a:t>
            </a:r>
            <a:r>
              <a:rPr sz="1300" b="0" i="0">
                <a:solidFill>
                  <a:srgbClr val="222833"/>
                </a:solidFill>
                <a:latin typeface="Calibri"/>
              </a:rPr>
              <a:t>A teammate types IP, port, username, password → sees the remote Ubuntu screen → moves the mouse and types → disconnects and connects again </a:t>
            </a:r>
            <a:r>
              <a:rPr sz="1300" b="1" i="0">
                <a:solidFill>
                  <a:srgbClr val="222833"/>
                </a:solidFill>
                <a:latin typeface="Calibri"/>
              </a:rPr>
              <a:t>without restarting the server.</a:t>
            </a:r>
          </a:p>
        </p:txBody>
      </p:sp>
      <p:sp>
        <p:nvSpPr>
          <p:cNvPr id="12" name="Rounded Rectangle 11"/>
          <p:cNvSpPr/>
          <p:nvPr/>
        </p:nvSpPr>
        <p:spPr>
          <a:xfrm>
            <a:off x="7863840" y="1188720"/>
            <a:ext cx="3886200" cy="512064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3" name="TextBox 12"/>
          <p:cNvSpPr txBox="1"/>
          <p:nvPr/>
        </p:nvSpPr>
        <p:spPr>
          <a:xfrm>
            <a:off x="8092440" y="1298448"/>
            <a:ext cx="3474720" cy="365760"/>
          </a:xfrm>
          <a:prstGeom prst="rect">
            <a:avLst/>
          </a:prstGeom>
          <a:noFill/>
        </p:spPr>
        <p:txBody>
          <a:bodyPr wrap="square" anchor="t" lIns="36576" rIns="36576" tIns="18288" bIns="18288">
            <a:spAutoFit/>
          </a:bodyPr>
          <a:lstStyle/>
          <a:p>
            <a:pPr algn="l"/>
            <a:r>
              <a:rPr sz="1800" b="1" i="0">
                <a:solidFill>
                  <a:srgbClr val="1F2A44"/>
                </a:solidFill>
                <a:latin typeface="Calibri"/>
              </a:rPr>
              <a:t>Scope</a:t>
            </a:r>
          </a:p>
        </p:txBody>
      </p:sp>
      <p:sp>
        <p:nvSpPr>
          <p:cNvPr id="14" name="TextBox 13"/>
          <p:cNvSpPr txBox="1"/>
          <p:nvPr/>
        </p:nvSpPr>
        <p:spPr>
          <a:xfrm>
            <a:off x="8092440" y="1691640"/>
            <a:ext cx="3474720" cy="274320"/>
          </a:xfrm>
          <a:prstGeom prst="rect">
            <a:avLst/>
          </a:prstGeom>
          <a:noFill/>
        </p:spPr>
        <p:txBody>
          <a:bodyPr wrap="square" anchor="t" lIns="36576" rIns="36576" tIns="18288" bIns="18288">
            <a:spAutoFit/>
          </a:bodyPr>
          <a:lstStyle/>
          <a:p>
            <a:pPr algn="l"/>
            <a:r>
              <a:rPr sz="1100" b="1" i="0">
                <a:solidFill>
                  <a:srgbClr val="0E8F7E"/>
                </a:solidFill>
                <a:latin typeface="Calibri"/>
              </a:rPr>
              <a:t>IN v1</a:t>
            </a:r>
          </a:p>
        </p:txBody>
      </p:sp>
      <p:sp>
        <p:nvSpPr>
          <p:cNvPr id="15" name="TextBox 14"/>
          <p:cNvSpPr txBox="1"/>
          <p:nvPr/>
        </p:nvSpPr>
        <p:spPr>
          <a:xfrm>
            <a:off x="8092440" y="1938528"/>
            <a:ext cx="3474720" cy="1737360"/>
          </a:xfrm>
          <a:prstGeom prst="rect">
            <a:avLst/>
          </a:prstGeom>
          <a:noFill/>
        </p:spPr>
        <p:txBody>
          <a:bodyPr wrap="square">
            <a:spAutoFit/>
          </a:bodyPr>
          <a:lstStyle/>
          <a:p>
            <a:pPr>
              <a:spcAft>
                <a:spcPts val="200"/>
              </a:spcAft>
            </a:pPr>
            <a:r>
              <a:rPr sz="1200">
                <a:solidFill>
                  <a:srgbClr val="0E8F7E"/>
                </a:solidFill>
                <a:latin typeface="Calibri"/>
              </a:rPr>
              <a:t>▪  </a:t>
            </a:r>
            <a:r>
              <a:rPr sz="1200" b="0">
                <a:solidFill>
                  <a:srgbClr val="222833"/>
                </a:solidFill>
                <a:latin typeface="Calibri"/>
              </a:rPr>
              <a:t>TLS session, Argon2id + HMAC auth</a:t>
            </a:r>
          </a:p>
          <a:p>
            <a:pPr>
              <a:spcAft>
                <a:spcPts val="200"/>
              </a:spcAft>
            </a:pPr>
            <a:r>
              <a:rPr sz="1200">
                <a:solidFill>
                  <a:srgbClr val="0E8F7E"/>
                </a:solidFill>
                <a:latin typeface="Calibri"/>
              </a:rPr>
              <a:t>▪  </a:t>
            </a:r>
            <a:r>
              <a:rPr sz="1200" b="0">
                <a:solidFill>
                  <a:srgbClr val="222833"/>
                </a:solidFill>
                <a:latin typeface="Calibri"/>
              </a:rPr>
              <a:t>Primary display (X11 or --synthetic)</a:t>
            </a:r>
          </a:p>
          <a:p>
            <a:pPr>
              <a:spcAft>
                <a:spcPts val="200"/>
              </a:spcAft>
            </a:pPr>
            <a:r>
              <a:rPr sz="1200">
                <a:solidFill>
                  <a:srgbClr val="0E8F7E"/>
                </a:solidFill>
                <a:latin typeface="Calibri"/>
              </a:rPr>
              <a:t>▪  </a:t>
            </a:r>
            <a:r>
              <a:rPr sz="1200" b="0">
                <a:solidFill>
                  <a:srgbClr val="222833"/>
                </a:solidFill>
                <a:latin typeface="Calibri"/>
              </a:rPr>
              <a:t>Mouse + keyboard, scaled coordinates</a:t>
            </a:r>
          </a:p>
          <a:p>
            <a:pPr>
              <a:spcAft>
                <a:spcPts val="200"/>
              </a:spcAft>
            </a:pPr>
            <a:r>
              <a:rPr sz="1200">
                <a:solidFill>
                  <a:srgbClr val="0E8F7E"/>
                </a:solidFill>
                <a:latin typeface="Calibri"/>
              </a:rPr>
              <a:t>▪  </a:t>
            </a:r>
            <a:r>
              <a:rPr sz="1200" b="0">
                <a:solidFill>
                  <a:srgbClr val="222833"/>
                </a:solidFill>
                <a:latin typeface="Calibri"/>
              </a:rPr>
              <a:t>One viewer; reconnect without restart</a:t>
            </a:r>
          </a:p>
        </p:txBody>
      </p:sp>
      <p:sp>
        <p:nvSpPr>
          <p:cNvPr id="16" name="TextBox 15"/>
          <p:cNvSpPr txBox="1"/>
          <p:nvPr/>
        </p:nvSpPr>
        <p:spPr>
          <a:xfrm>
            <a:off x="8092440" y="3566160"/>
            <a:ext cx="3474720" cy="274320"/>
          </a:xfrm>
          <a:prstGeom prst="rect">
            <a:avLst/>
          </a:prstGeom>
          <a:noFill/>
        </p:spPr>
        <p:txBody>
          <a:bodyPr wrap="square" anchor="t" lIns="36576" rIns="36576" tIns="18288" bIns="18288">
            <a:spAutoFit/>
          </a:bodyPr>
          <a:lstStyle/>
          <a:p>
            <a:pPr algn="l"/>
            <a:r>
              <a:rPr sz="1100" b="1" i="0">
                <a:solidFill>
                  <a:srgbClr val="C23B3B"/>
                </a:solidFill>
                <a:latin typeface="Calibri"/>
              </a:rPr>
              <a:t>OUT OF SCOPE v1</a:t>
            </a:r>
          </a:p>
        </p:txBody>
      </p:sp>
      <p:sp>
        <p:nvSpPr>
          <p:cNvPr id="17" name="TextBox 16"/>
          <p:cNvSpPr txBox="1"/>
          <p:nvPr/>
        </p:nvSpPr>
        <p:spPr>
          <a:xfrm>
            <a:off x="8092440" y="3813048"/>
            <a:ext cx="3474720" cy="2377440"/>
          </a:xfrm>
          <a:prstGeom prst="rect">
            <a:avLst/>
          </a:prstGeom>
          <a:noFill/>
        </p:spPr>
        <p:txBody>
          <a:bodyPr wrap="square">
            <a:spAutoFit/>
          </a:bodyPr>
          <a:lstStyle/>
          <a:p>
            <a:pPr>
              <a:spcAft>
                <a:spcPts val="200"/>
              </a:spcAft>
            </a:pPr>
            <a:r>
              <a:rPr sz="1200">
                <a:solidFill>
                  <a:srgbClr val="C23B3B"/>
                </a:solidFill>
                <a:latin typeface="Calibri"/>
              </a:rPr>
              <a:t>▪  </a:t>
            </a:r>
            <a:r>
              <a:rPr sz="1200" b="0">
                <a:solidFill>
                  <a:srgbClr val="222833"/>
                </a:solidFill>
                <a:latin typeface="Calibri"/>
              </a:rPr>
              <a:t>File transfer, audio, clipboard</a:t>
            </a:r>
          </a:p>
          <a:p>
            <a:pPr>
              <a:spcAft>
                <a:spcPts val="200"/>
              </a:spcAft>
            </a:pPr>
            <a:r>
              <a:rPr sz="1200">
                <a:solidFill>
                  <a:srgbClr val="C23B3B"/>
                </a:solidFill>
                <a:latin typeface="Calibri"/>
              </a:rPr>
              <a:t>▪  </a:t>
            </a:r>
            <a:r>
              <a:rPr sz="1200" b="0">
                <a:solidFill>
                  <a:srgbClr val="222833"/>
                </a:solidFill>
                <a:latin typeface="Calibri"/>
              </a:rPr>
              <a:t>Wayland host, multi-monitor</a:t>
            </a:r>
          </a:p>
          <a:p>
            <a:pPr>
              <a:spcAft>
                <a:spcPts val="200"/>
              </a:spcAft>
            </a:pPr>
            <a:r>
              <a:rPr sz="1200">
                <a:solidFill>
                  <a:srgbClr val="C23B3B"/>
                </a:solidFill>
                <a:latin typeface="Calibri"/>
              </a:rPr>
              <a:t>▪  </a:t>
            </a:r>
            <a:r>
              <a:rPr sz="1200" b="0">
                <a:solidFill>
                  <a:srgbClr val="222833"/>
                </a:solidFill>
                <a:latin typeface="Calibri"/>
              </a:rPr>
              <a:t>NAT relay / “connect from anywhere”</a:t>
            </a:r>
          </a:p>
          <a:p>
            <a:pPr>
              <a:spcAft>
                <a:spcPts val="200"/>
              </a:spcAft>
            </a:pPr>
            <a:r>
              <a:rPr sz="1200">
                <a:solidFill>
                  <a:srgbClr val="C23B3B"/>
                </a:solidFill>
                <a:latin typeface="Calibri"/>
              </a:rPr>
              <a:t>▪  </a:t>
            </a:r>
            <a:r>
              <a:rPr sz="1200" b="0">
                <a:solidFill>
                  <a:srgbClr val="222833"/>
                </a:solidFill>
                <a:latin typeface="Calibri"/>
              </a:rPr>
              <a:t>Mac/Windows as host; mobile/web</a:t>
            </a:r>
          </a:p>
          <a:p>
            <a:pPr>
              <a:spcAft>
                <a:spcPts val="200"/>
              </a:spcAft>
            </a:pPr>
            <a:r>
              <a:rPr sz="1200">
                <a:solidFill>
                  <a:srgbClr val="C23B3B"/>
                </a:solidFill>
                <a:latin typeface="Calibri"/>
              </a:rPr>
              <a:t>▪  </a:t>
            </a:r>
            <a:r>
              <a:rPr sz="1200" b="0">
                <a:solidFill>
                  <a:srgbClr val="222833"/>
                </a:solidFill>
                <a:latin typeface="Calibri"/>
              </a:rPr>
              <a:t>Saved profiles, view-only role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p:txBody>
      </p:sp>
      <p:sp>
        <p:nvSpPr>
          <p:cNvPr id="3" name="TextBox 2"/>
          <p:cNvSpPr txBox="1"/>
          <p:nvPr/>
        </p:nvSpPr>
        <p:spPr>
          <a:xfrm>
            <a:off x="457200" y="128016"/>
            <a:ext cx="10058400" cy="502920"/>
          </a:xfrm>
          <a:prstGeom prst="rect">
            <a:avLst/>
          </a:prstGeom>
          <a:noFill/>
        </p:spPr>
        <p:txBody>
          <a:bodyPr wrap="square" anchor="t" lIns="36576" rIns="36576" tIns="18288" bIns="18288">
            <a:spAutoFit/>
          </a:bodyPr>
          <a:lstStyle/>
          <a:p>
            <a:pPr algn="l"/>
            <a:r>
              <a:rPr sz="2800" b="1" i="0">
                <a:solidFill>
                  <a:srgbClr val="FFFFFF"/>
                </a:solidFill>
                <a:latin typeface="Calibri"/>
              </a:rPr>
              <a:t>Actors &amp; Use Cases</a:t>
            </a:r>
          </a:p>
        </p:txBody>
      </p:sp>
      <p:sp>
        <p:nvSpPr>
          <p:cNvPr id="4" name="TextBox 3"/>
          <p:cNvSpPr txBox="1"/>
          <p:nvPr/>
        </p:nvSpPr>
        <p:spPr>
          <a:xfrm>
            <a:off x="457200" y="566928"/>
            <a:ext cx="10515600" cy="320040"/>
          </a:xfrm>
          <a:prstGeom prst="rect">
            <a:avLst/>
          </a:prstGeom>
          <a:noFill/>
        </p:spPr>
        <p:txBody>
          <a:bodyPr wrap="square" anchor="t" lIns="36576" rIns="36576" tIns="18288" bIns="18288">
            <a:spAutoFit/>
          </a:bodyPr>
          <a:lstStyle/>
          <a:p>
            <a:pPr algn="l"/>
            <a:r>
              <a:rPr sz="1400" b="0" i="0">
                <a:solidFill>
                  <a:srgbClr val="C9D3E3"/>
                </a:solidFill>
                <a:latin typeface="Calibri"/>
              </a:rPr>
              <a:t>Three personas, two roles — once authenticated, a viewer has full control</a:t>
            </a:r>
          </a:p>
        </p:txBody>
      </p:sp>
      <p:sp>
        <p:nvSpPr>
          <p:cNvPr id="5" name="TextBox 4"/>
          <p:cNvSpPr txBox="1"/>
          <p:nvPr/>
        </p:nvSpPr>
        <p:spPr>
          <a:xfrm>
            <a:off x="11155680" y="274320"/>
            <a:ext cx="731520" cy="411480"/>
          </a:xfrm>
          <a:prstGeom prst="rect">
            <a:avLst/>
          </a:prstGeom>
          <a:noFill/>
        </p:spPr>
        <p:txBody>
          <a:bodyPr wrap="square" anchor="t" lIns="36576" rIns="36576" tIns="18288" bIns="18288">
            <a:spAutoFit/>
          </a:bodyPr>
          <a:lstStyle/>
          <a:p>
            <a:pPr algn="r"/>
            <a:r>
              <a:rPr sz="1300" b="0" i="0">
                <a:solidFill>
                  <a:srgbClr val="C9D3E3"/>
                </a:solidFill>
                <a:latin typeface="Calibri"/>
              </a:rPr>
              <a:t>2 / 5</a:t>
            </a:r>
          </a:p>
        </p:txBody>
      </p:sp>
      <p:sp>
        <p:nvSpPr>
          <p:cNvPr id="6" name="TextBox 5"/>
          <p:cNvSpPr txBox="1"/>
          <p:nvPr/>
        </p:nvSpPr>
        <p:spPr>
          <a:xfrm>
            <a:off x="457200" y="6492240"/>
            <a:ext cx="7315200" cy="274320"/>
          </a:xfrm>
          <a:prstGeom prst="rect">
            <a:avLst/>
          </a:prstGeom>
          <a:noFill/>
        </p:spPr>
        <p:txBody>
          <a:bodyPr wrap="square" anchor="t" lIns="36576" rIns="36576" tIns="18288" bIns="18288">
            <a:spAutoFit/>
          </a:bodyPr>
          <a:lstStyle/>
          <a:p>
            <a:pPr algn="l"/>
            <a:r>
              <a:rPr sz="1000" b="0" i="0">
                <a:solidFill>
                  <a:srgbClr val="5F6B7A"/>
                </a:solidFill>
                <a:latin typeface="Calibri"/>
              </a:rPr>
              <a:t>PeerDesk  ·  LAN/VPN remote desktop for small teams</a:t>
            </a:r>
          </a:p>
        </p:txBody>
      </p:sp>
      <p:sp>
        <p:nvSpPr>
          <p:cNvPr id="7" name="Rectangle 6"/>
          <p:cNvSpPr/>
          <p:nvPr/>
        </p:nvSpPr>
        <p:spPr>
          <a:xfrm>
            <a:off x="2926080" y="1188720"/>
            <a:ext cx="6263640" cy="4800600"/>
          </a:xfrm>
          <a:prstGeom prst="rect">
            <a:avLst/>
          </a:prstGeom>
          <a:noFill/>
          <a:ln w="22225">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TextBox 7"/>
          <p:cNvSpPr txBox="1"/>
          <p:nvPr/>
        </p:nvSpPr>
        <p:spPr>
          <a:xfrm>
            <a:off x="3017520" y="1216152"/>
            <a:ext cx="3657600" cy="320040"/>
          </a:xfrm>
          <a:prstGeom prst="rect">
            <a:avLst/>
          </a:prstGeom>
          <a:noFill/>
        </p:spPr>
        <p:txBody>
          <a:bodyPr wrap="square" anchor="t" lIns="36576" rIns="36576" tIns="18288" bIns="18288">
            <a:spAutoFit/>
          </a:bodyPr>
          <a:lstStyle/>
          <a:p>
            <a:pPr algn="l"/>
            <a:r>
              <a:rPr sz="1300" b="1" i="0">
                <a:solidFill>
                  <a:srgbClr val="1F2A44"/>
                </a:solidFill>
                <a:latin typeface="Calibri"/>
              </a:rPr>
              <a:t>PeerDesk system</a:t>
            </a:r>
          </a:p>
        </p:txBody>
      </p:sp>
      <p:sp>
        <p:nvSpPr>
          <p:cNvPr id="9" name="Oval 8"/>
          <p:cNvSpPr/>
          <p:nvPr/>
        </p:nvSpPr>
        <p:spPr>
          <a:xfrm>
            <a:off x="3154680" y="1645920"/>
            <a:ext cx="2788920" cy="731520"/>
          </a:xfrm>
          <a:prstGeom prst="ellipse">
            <a:avLst/>
          </a:prstGeom>
          <a:solidFill>
            <a:srgbClr val="FFFFFF"/>
          </a:solidFill>
          <a:ln w="19050">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50" b="1" i="0">
                <a:solidFill>
                  <a:srgbClr val="2F6FDE"/>
                </a:solidFill>
                <a:latin typeface="Calibri"/>
              </a:rPr>
              <a:t>Connect &amp; authenticate</a:t>
            </a:r>
          </a:p>
          <a:p>
            <a:pPr algn="ctr"/>
            <a:r>
              <a:rPr sz="950" b="0" i="0">
                <a:solidFill>
                  <a:srgbClr val="5F6B7A"/>
                </a:solidFill>
                <a:latin typeface="Calibri"/>
              </a:rPr>
              <a:t>J1 · TLS + challenge</a:t>
            </a:r>
          </a:p>
        </p:txBody>
      </p:sp>
      <p:sp>
        <p:nvSpPr>
          <p:cNvPr id="10" name="Oval 9"/>
          <p:cNvSpPr/>
          <p:nvPr/>
        </p:nvSpPr>
        <p:spPr>
          <a:xfrm>
            <a:off x="3154680" y="2542032"/>
            <a:ext cx="2788920" cy="731520"/>
          </a:xfrm>
          <a:prstGeom prst="ellipse">
            <a:avLst/>
          </a:prstGeom>
          <a:solidFill>
            <a:srgbClr val="FFFFFF"/>
          </a:solidFill>
          <a:ln w="19050">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50" b="1" i="0">
                <a:solidFill>
                  <a:srgbClr val="2F6FDE"/>
                </a:solidFill>
                <a:latin typeface="Calibri"/>
              </a:rPr>
              <a:t>View remote screen</a:t>
            </a:r>
          </a:p>
          <a:p>
            <a:pPr algn="ctr"/>
            <a:r>
              <a:rPr sz="950" b="0" i="0">
                <a:solidFill>
                  <a:srgbClr val="5F6B7A"/>
                </a:solidFill>
                <a:latin typeface="Calibri"/>
              </a:rPr>
              <a:t>J2 · live primary display</a:t>
            </a:r>
          </a:p>
        </p:txBody>
      </p:sp>
      <p:sp>
        <p:nvSpPr>
          <p:cNvPr id="11" name="Oval 10"/>
          <p:cNvSpPr/>
          <p:nvPr/>
        </p:nvSpPr>
        <p:spPr>
          <a:xfrm>
            <a:off x="3154680" y="3474720"/>
            <a:ext cx="2788920" cy="731520"/>
          </a:xfrm>
          <a:prstGeom prst="ellipse">
            <a:avLst/>
          </a:prstGeom>
          <a:solidFill>
            <a:srgbClr val="FFFFFF"/>
          </a:solidFill>
          <a:ln w="19050">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50" b="1" i="0">
                <a:solidFill>
                  <a:srgbClr val="2F6FDE"/>
                </a:solidFill>
                <a:latin typeface="Calibri"/>
              </a:rPr>
              <a:t>Control mouse &amp; keyboard</a:t>
            </a:r>
          </a:p>
          <a:p>
            <a:pPr algn="ctr"/>
            <a:r>
              <a:rPr sz="950" b="0" i="0">
                <a:solidFill>
                  <a:srgbClr val="5F6B7A"/>
                </a:solidFill>
                <a:latin typeface="Calibri"/>
              </a:rPr>
              <a:t>J2 · mapped to host pixels</a:t>
            </a:r>
          </a:p>
        </p:txBody>
      </p:sp>
      <p:sp>
        <p:nvSpPr>
          <p:cNvPr id="12" name="Oval 11"/>
          <p:cNvSpPr/>
          <p:nvPr/>
        </p:nvSpPr>
        <p:spPr>
          <a:xfrm>
            <a:off x="3154680" y="4389120"/>
            <a:ext cx="2788920" cy="731520"/>
          </a:xfrm>
          <a:prstGeom prst="ellipse">
            <a:avLst/>
          </a:prstGeom>
          <a:solidFill>
            <a:srgbClr val="FFFFFF"/>
          </a:solidFill>
          <a:ln w="19050">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50" b="1" i="0">
                <a:solidFill>
                  <a:srgbClr val="2F6FDE"/>
                </a:solidFill>
                <a:latin typeface="Calibri"/>
              </a:rPr>
              <a:t>Disconnect &amp; reconnect</a:t>
            </a:r>
          </a:p>
          <a:p>
            <a:pPr algn="ctr"/>
            <a:r>
              <a:rPr sz="950" b="0" i="0">
                <a:solidFill>
                  <a:srgbClr val="5F6B7A"/>
                </a:solidFill>
                <a:latin typeface="Calibri"/>
              </a:rPr>
              <a:t>J3 · re-auth, no server restart</a:t>
            </a:r>
          </a:p>
        </p:txBody>
      </p:sp>
      <p:sp>
        <p:nvSpPr>
          <p:cNvPr id="13" name="Oval 12"/>
          <p:cNvSpPr/>
          <p:nvPr/>
        </p:nvSpPr>
        <p:spPr>
          <a:xfrm>
            <a:off x="6217920" y="1463040"/>
            <a:ext cx="2788920" cy="731520"/>
          </a:xfrm>
          <a:prstGeom prst="ellipse">
            <a:avLst/>
          </a:prstGeom>
          <a:solidFill>
            <a:srgbClr val="FFFFFF"/>
          </a:solidFill>
          <a:ln w="19050">
            <a:solidFill>
              <a:srgbClr val="D96C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50" b="1" i="0">
                <a:solidFill>
                  <a:srgbClr val="D96C1A"/>
                </a:solidFill>
                <a:latin typeface="Calibri"/>
              </a:rPr>
              <a:t>Start host server</a:t>
            </a:r>
          </a:p>
          <a:p>
            <a:pPr algn="ctr"/>
            <a:r>
              <a:rPr sz="950" b="0" i="0">
                <a:solidFill>
                  <a:srgbClr val="5F6B7A"/>
                </a:solidFill>
                <a:latin typeface="Calibri"/>
              </a:rPr>
              <a:t>J0 · bind port, X11 check</a:t>
            </a:r>
          </a:p>
        </p:txBody>
      </p:sp>
      <p:sp>
        <p:nvSpPr>
          <p:cNvPr id="14" name="Oval 13"/>
          <p:cNvSpPr/>
          <p:nvPr/>
        </p:nvSpPr>
        <p:spPr>
          <a:xfrm>
            <a:off x="6217920" y="2286000"/>
            <a:ext cx="2788920" cy="731520"/>
          </a:xfrm>
          <a:prstGeom prst="ellipse">
            <a:avLst/>
          </a:prstGeom>
          <a:solidFill>
            <a:srgbClr val="FFFFFF"/>
          </a:solidFill>
          <a:ln w="19050">
            <a:solidFill>
              <a:srgbClr val="D96C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50" b="1" i="0">
                <a:solidFill>
                  <a:srgbClr val="D96C1A"/>
                </a:solidFill>
                <a:latin typeface="Calibri"/>
              </a:rPr>
              <a:t>Issue logins</a:t>
            </a:r>
          </a:p>
          <a:p>
            <a:pPr algn="ctr"/>
            <a:r>
              <a:rPr sz="950" b="0" i="0">
                <a:solidFill>
                  <a:srgbClr val="5F6B7A"/>
                </a:solidFill>
                <a:latin typeface="Calibri"/>
              </a:rPr>
              <a:t>J0 · Argon2id hashes on disk</a:t>
            </a:r>
          </a:p>
        </p:txBody>
      </p:sp>
      <p:sp>
        <p:nvSpPr>
          <p:cNvPr id="15" name="TextBox 14"/>
          <p:cNvSpPr txBox="1"/>
          <p:nvPr/>
        </p:nvSpPr>
        <p:spPr>
          <a:xfrm>
            <a:off x="3200400" y="5230368"/>
            <a:ext cx="1371600" cy="274320"/>
          </a:xfrm>
          <a:prstGeom prst="rect">
            <a:avLst/>
          </a:prstGeom>
          <a:noFill/>
        </p:spPr>
        <p:txBody>
          <a:bodyPr wrap="square" anchor="t" lIns="36576" rIns="36576" tIns="18288" bIns="18288">
            <a:spAutoFit/>
          </a:bodyPr>
          <a:lstStyle/>
          <a:p>
            <a:pPr algn="l"/>
            <a:r>
              <a:rPr sz="1050" b="1" i="0">
                <a:solidFill>
                  <a:srgbClr val="5F6B7A"/>
                </a:solidFill>
                <a:latin typeface="Calibri"/>
              </a:rPr>
              <a:t>Deferred (D1):</a:t>
            </a:r>
          </a:p>
        </p:txBody>
      </p:sp>
      <p:sp>
        <p:nvSpPr>
          <p:cNvPr id="16" name="Oval 15"/>
          <p:cNvSpPr/>
          <p:nvPr/>
        </p:nvSpPr>
        <p:spPr>
          <a:xfrm>
            <a:off x="4343400" y="5193792"/>
            <a:ext cx="1508760" cy="457200"/>
          </a:xfrm>
          <a:prstGeom prst="ellipse">
            <a:avLst/>
          </a:prstGeom>
          <a:noFill/>
          <a:ln w="12700">
            <a:solidFill>
              <a:srgbClr val="9AA4B1"/>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i="0">
                <a:solidFill>
                  <a:srgbClr val="5F6B7A"/>
                </a:solidFill>
                <a:latin typeface="Calibri"/>
              </a:rPr>
              <a:t>J4 Saved profiles</a:t>
            </a:r>
          </a:p>
        </p:txBody>
      </p:sp>
      <p:sp>
        <p:nvSpPr>
          <p:cNvPr id="17" name="Oval 16"/>
          <p:cNvSpPr/>
          <p:nvPr/>
        </p:nvSpPr>
        <p:spPr>
          <a:xfrm>
            <a:off x="5943600" y="5193792"/>
            <a:ext cx="1508760" cy="457200"/>
          </a:xfrm>
          <a:prstGeom prst="ellipse">
            <a:avLst/>
          </a:prstGeom>
          <a:noFill/>
          <a:ln w="12700">
            <a:solidFill>
              <a:srgbClr val="9AA4B1"/>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i="0">
                <a:solidFill>
                  <a:srgbClr val="5F6B7A"/>
                </a:solidFill>
                <a:latin typeface="Calibri"/>
              </a:rPr>
              <a:t>J5 Wayland host</a:t>
            </a:r>
          </a:p>
        </p:txBody>
      </p:sp>
      <p:sp>
        <p:nvSpPr>
          <p:cNvPr id="18" name="Oval 17"/>
          <p:cNvSpPr/>
          <p:nvPr/>
        </p:nvSpPr>
        <p:spPr>
          <a:xfrm>
            <a:off x="7543800" y="5193792"/>
            <a:ext cx="1508760" cy="457200"/>
          </a:xfrm>
          <a:prstGeom prst="ellipse">
            <a:avLst/>
          </a:prstGeom>
          <a:noFill/>
          <a:ln w="12700">
            <a:solidFill>
              <a:srgbClr val="9AA4B1"/>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i="0">
                <a:solidFill>
                  <a:srgbClr val="5F6B7A"/>
                </a:solidFill>
                <a:latin typeface="Calibri"/>
              </a:rPr>
              <a:t>J6 Multi-monitor</a:t>
            </a:r>
          </a:p>
        </p:txBody>
      </p:sp>
      <p:sp>
        <p:nvSpPr>
          <p:cNvPr id="19" name="Oval 18"/>
          <p:cNvSpPr/>
          <p:nvPr/>
        </p:nvSpPr>
        <p:spPr>
          <a:xfrm>
            <a:off x="1901952" y="2697480"/>
            <a:ext cx="310896" cy="310896"/>
          </a:xfrm>
          <a:prstGeom prst="ellipse">
            <a:avLst/>
          </a:prstGeom>
          <a:solidFill>
            <a:srgbClr val="FFFFFF"/>
          </a:solidFill>
          <a:ln w="25400">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2057400" y="3008376"/>
            <a:ext cx="0" cy="466344"/>
          </a:xfrm>
          <a:prstGeom prst="line">
            <a:avLst/>
          </a:prstGeom>
          <a:ln w="25400">
            <a:solidFill>
              <a:srgbClr val="2F6FD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83080" y="3145536"/>
            <a:ext cx="548640" cy="0"/>
          </a:xfrm>
          <a:prstGeom prst="line">
            <a:avLst/>
          </a:prstGeom>
          <a:ln w="25400">
            <a:solidFill>
              <a:srgbClr val="2F6FD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828800" y="3474720"/>
            <a:ext cx="228600" cy="365760"/>
          </a:xfrm>
          <a:prstGeom prst="line">
            <a:avLst/>
          </a:prstGeom>
          <a:ln w="25400">
            <a:solidFill>
              <a:srgbClr val="2F6FD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057400" y="3474720"/>
            <a:ext cx="228600" cy="365760"/>
          </a:xfrm>
          <a:prstGeom prst="line">
            <a:avLst/>
          </a:prstGeom>
          <a:ln w="25400">
            <a:solidFill>
              <a:srgbClr val="2F6FD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188720" y="3858768"/>
            <a:ext cx="1737360" cy="548640"/>
          </a:xfrm>
          <a:prstGeom prst="rect">
            <a:avLst/>
          </a:prstGeom>
          <a:noFill/>
        </p:spPr>
        <p:txBody>
          <a:bodyPr wrap="square" anchor="t" lIns="36576" rIns="36576" tIns="18288" bIns="18288">
            <a:spAutoFit/>
          </a:bodyPr>
          <a:lstStyle/>
          <a:p>
            <a:pPr algn="ctr"/>
            <a:r>
              <a:rPr sz="1200" b="1" i="0">
                <a:solidFill>
                  <a:srgbClr val="2F6FDE"/>
                </a:solidFill>
                <a:latin typeface="Calibri"/>
              </a:rPr>
              <a:t>Viewer</a:t>
            </a:r>
          </a:p>
          <a:p>
            <a:pPr algn="ctr"/>
            <a:r>
              <a:rPr sz="1000" b="0" i="0">
                <a:solidFill>
                  <a:srgbClr val="5F6B7A"/>
                </a:solidFill>
                <a:latin typeface="Calibri"/>
              </a:rPr>
              <a:t>any authenticated user</a:t>
            </a:r>
          </a:p>
        </p:txBody>
      </p:sp>
      <p:cxnSp>
        <p:nvCxnSpPr>
          <p:cNvPr id="25" name="Connector 24"/>
          <p:cNvCxnSpPr/>
          <p:nvPr/>
        </p:nvCxnSpPr>
        <p:spPr>
          <a:xfrm flipV="1">
            <a:off x="2331720" y="2011680"/>
            <a:ext cx="822960" cy="1234440"/>
          </a:xfrm>
          <a:prstGeom prst="line">
            <a:avLst/>
          </a:prstGeom>
          <a:ln w="15875">
            <a:solidFill>
              <a:srgbClr val="2F6FD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331720" y="2907791"/>
            <a:ext cx="822960" cy="338329"/>
          </a:xfrm>
          <a:prstGeom prst="line">
            <a:avLst/>
          </a:prstGeom>
          <a:ln w="15875">
            <a:solidFill>
              <a:srgbClr val="2F6FD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331720" y="3246120"/>
            <a:ext cx="822960" cy="594360"/>
          </a:xfrm>
          <a:prstGeom prst="line">
            <a:avLst/>
          </a:prstGeom>
          <a:ln w="15875">
            <a:solidFill>
              <a:srgbClr val="2F6FD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331720" y="3246120"/>
            <a:ext cx="822960" cy="1508760"/>
          </a:xfrm>
          <a:prstGeom prst="line">
            <a:avLst/>
          </a:prstGeom>
          <a:ln w="15875">
            <a:solidFill>
              <a:srgbClr val="2F6FDE"/>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569214" y="1325880"/>
            <a:ext cx="233172" cy="233172"/>
          </a:xfrm>
          <a:prstGeom prst="ellipse">
            <a:avLst/>
          </a:prstGeom>
          <a:solidFill>
            <a:srgbClr val="FFFFFF"/>
          </a:solidFill>
          <a:ln w="25400">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685800" y="1559052"/>
            <a:ext cx="0" cy="349758"/>
          </a:xfrm>
          <a:prstGeom prst="line">
            <a:avLst/>
          </a:prstGeom>
          <a:ln w="25400">
            <a:solidFill>
              <a:srgbClr val="2F6FD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80060" y="1661922"/>
            <a:ext cx="411480" cy="0"/>
          </a:xfrm>
          <a:prstGeom prst="line">
            <a:avLst/>
          </a:prstGeom>
          <a:ln w="25400">
            <a:solidFill>
              <a:srgbClr val="2F6FD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514350" y="1908810"/>
            <a:ext cx="171450" cy="274320"/>
          </a:xfrm>
          <a:prstGeom prst="line">
            <a:avLst/>
          </a:prstGeom>
          <a:ln w="25400">
            <a:solidFill>
              <a:srgbClr val="2F6FD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85800" y="1908810"/>
            <a:ext cx="171450" cy="274320"/>
          </a:xfrm>
          <a:prstGeom prst="line">
            <a:avLst/>
          </a:prstGeom>
          <a:ln w="25400">
            <a:solidFill>
              <a:srgbClr val="2F6FDE"/>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82879" y="2196846"/>
            <a:ext cx="1737360" cy="548640"/>
          </a:xfrm>
          <a:prstGeom prst="rect">
            <a:avLst/>
          </a:prstGeom>
          <a:noFill/>
        </p:spPr>
        <p:txBody>
          <a:bodyPr wrap="square" anchor="t" lIns="36576" rIns="36576" tIns="18288" bIns="18288">
            <a:spAutoFit/>
          </a:bodyPr>
          <a:lstStyle/>
          <a:p>
            <a:pPr algn="ctr"/>
            <a:r>
              <a:rPr sz="1200" b="1" i="0">
                <a:solidFill>
                  <a:srgbClr val="2F6FDE"/>
                </a:solidFill>
                <a:latin typeface="Calibri"/>
              </a:rPr>
              <a:t>Sam</a:t>
            </a:r>
          </a:p>
          <a:p>
            <a:pPr algn="ctr"/>
            <a:r>
              <a:rPr sz="1000" b="0" i="0">
                <a:solidFill>
                  <a:srgbClr val="5F6B7A"/>
                </a:solidFill>
                <a:latin typeface="Calibri"/>
              </a:rPr>
              <a:t>Viewer · macOS</a:t>
            </a:r>
          </a:p>
        </p:txBody>
      </p:sp>
      <p:sp>
        <p:nvSpPr>
          <p:cNvPr id="35" name="Oval 34"/>
          <p:cNvSpPr/>
          <p:nvPr/>
        </p:nvSpPr>
        <p:spPr>
          <a:xfrm>
            <a:off x="569214" y="3977639"/>
            <a:ext cx="233172" cy="233172"/>
          </a:xfrm>
          <a:prstGeom prst="ellipse">
            <a:avLst/>
          </a:prstGeom>
          <a:solidFill>
            <a:srgbClr val="FFFFFF"/>
          </a:solidFill>
          <a:ln w="25400">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685800" y="4210812"/>
            <a:ext cx="0" cy="349758"/>
          </a:xfrm>
          <a:prstGeom prst="line">
            <a:avLst/>
          </a:prstGeom>
          <a:ln w="25400">
            <a:solidFill>
              <a:srgbClr val="2F6FD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0060" y="4313681"/>
            <a:ext cx="411480" cy="0"/>
          </a:xfrm>
          <a:prstGeom prst="line">
            <a:avLst/>
          </a:prstGeom>
          <a:ln w="25400">
            <a:solidFill>
              <a:srgbClr val="2F6FD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514350" y="4560570"/>
            <a:ext cx="171450" cy="274320"/>
          </a:xfrm>
          <a:prstGeom prst="line">
            <a:avLst/>
          </a:prstGeom>
          <a:ln w="25400">
            <a:solidFill>
              <a:srgbClr val="2F6FD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85800" y="4560570"/>
            <a:ext cx="171450" cy="274320"/>
          </a:xfrm>
          <a:prstGeom prst="line">
            <a:avLst/>
          </a:prstGeom>
          <a:ln w="25400">
            <a:solidFill>
              <a:srgbClr val="2F6FD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82879" y="4848606"/>
            <a:ext cx="1737360" cy="548640"/>
          </a:xfrm>
          <a:prstGeom prst="rect">
            <a:avLst/>
          </a:prstGeom>
          <a:noFill/>
        </p:spPr>
        <p:txBody>
          <a:bodyPr wrap="square" anchor="t" lIns="36576" rIns="36576" tIns="18288" bIns="18288">
            <a:spAutoFit/>
          </a:bodyPr>
          <a:lstStyle/>
          <a:p>
            <a:pPr algn="ctr"/>
            <a:r>
              <a:rPr sz="1200" b="1" i="0">
                <a:solidFill>
                  <a:srgbClr val="2F6FDE"/>
                </a:solidFill>
                <a:latin typeface="Calibri"/>
              </a:rPr>
              <a:t>Riley</a:t>
            </a:r>
          </a:p>
          <a:p>
            <a:pPr algn="ctr"/>
            <a:r>
              <a:rPr sz="1000" b="0" i="0">
                <a:solidFill>
                  <a:srgbClr val="5F6B7A"/>
                </a:solidFill>
                <a:latin typeface="Calibri"/>
              </a:rPr>
              <a:t>Viewer · Ubuntu</a:t>
            </a:r>
          </a:p>
        </p:txBody>
      </p:sp>
      <p:cxnSp>
        <p:nvCxnSpPr>
          <p:cNvPr id="41" name="Connector 40"/>
          <p:cNvCxnSpPr/>
          <p:nvPr/>
        </p:nvCxnSpPr>
        <p:spPr>
          <a:xfrm>
            <a:off x="914400" y="1874519"/>
            <a:ext cx="868680" cy="1234441"/>
          </a:xfrm>
          <a:prstGeom prst="line">
            <a:avLst/>
          </a:prstGeom>
          <a:ln w="15875">
            <a:solidFill>
              <a:srgbClr val="2F6FD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14400" y="3474720"/>
            <a:ext cx="868680" cy="868680"/>
          </a:xfrm>
          <a:prstGeom prst="line">
            <a:avLst/>
          </a:prstGeom>
          <a:ln w="15875">
            <a:solidFill>
              <a:srgbClr val="2F6F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9994392" y="1325880"/>
            <a:ext cx="310896" cy="310896"/>
          </a:xfrm>
          <a:prstGeom prst="ellipse">
            <a:avLst/>
          </a:prstGeom>
          <a:solidFill>
            <a:srgbClr val="FFFFFF"/>
          </a:solidFill>
          <a:ln w="25400">
            <a:solidFill>
              <a:srgbClr val="D96C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10149840" y="1636776"/>
            <a:ext cx="0" cy="466344"/>
          </a:xfrm>
          <a:prstGeom prst="line">
            <a:avLst/>
          </a:prstGeom>
          <a:ln w="25400">
            <a:solidFill>
              <a:srgbClr val="D96C1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875519" y="1773936"/>
            <a:ext cx="548641" cy="0"/>
          </a:xfrm>
          <a:prstGeom prst="line">
            <a:avLst/>
          </a:prstGeom>
          <a:ln w="25400">
            <a:solidFill>
              <a:srgbClr val="D96C1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9921240" y="2103120"/>
            <a:ext cx="228600" cy="365759"/>
          </a:xfrm>
          <a:prstGeom prst="line">
            <a:avLst/>
          </a:prstGeom>
          <a:ln w="25400">
            <a:solidFill>
              <a:srgbClr val="D96C1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0149840" y="2103120"/>
            <a:ext cx="228600" cy="365759"/>
          </a:xfrm>
          <a:prstGeom prst="line">
            <a:avLst/>
          </a:prstGeom>
          <a:ln w="25400">
            <a:solidFill>
              <a:srgbClr val="D96C1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9281160" y="2487168"/>
            <a:ext cx="1737360" cy="548640"/>
          </a:xfrm>
          <a:prstGeom prst="rect">
            <a:avLst/>
          </a:prstGeom>
          <a:noFill/>
        </p:spPr>
        <p:txBody>
          <a:bodyPr wrap="square" anchor="t" lIns="36576" rIns="36576" tIns="18288" bIns="18288">
            <a:spAutoFit/>
          </a:bodyPr>
          <a:lstStyle/>
          <a:p>
            <a:pPr algn="ctr"/>
            <a:r>
              <a:rPr sz="1200" b="1" i="0">
                <a:solidFill>
                  <a:srgbClr val="D96C1A"/>
                </a:solidFill>
                <a:latin typeface="Calibri"/>
              </a:rPr>
              <a:t>Jordan</a:t>
            </a:r>
          </a:p>
          <a:p>
            <a:pPr algn="ctr"/>
            <a:r>
              <a:rPr sz="1000" b="0" i="0">
                <a:solidFill>
                  <a:srgbClr val="5F6B7A"/>
                </a:solidFill>
                <a:latin typeface="Calibri"/>
              </a:rPr>
              <a:t>Host operator</a:t>
            </a:r>
          </a:p>
        </p:txBody>
      </p:sp>
      <p:cxnSp>
        <p:nvCxnSpPr>
          <p:cNvPr id="49" name="Connector 48"/>
          <p:cNvCxnSpPr/>
          <p:nvPr/>
        </p:nvCxnSpPr>
        <p:spPr>
          <a:xfrm flipH="1" flipV="1">
            <a:off x="9006840" y="1828800"/>
            <a:ext cx="868679" cy="45719"/>
          </a:xfrm>
          <a:prstGeom prst="line">
            <a:avLst/>
          </a:prstGeom>
          <a:ln w="15875">
            <a:solidFill>
              <a:srgbClr val="D96C1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9006840" y="1874519"/>
            <a:ext cx="868679" cy="777241"/>
          </a:xfrm>
          <a:prstGeom prst="line">
            <a:avLst/>
          </a:prstGeom>
          <a:ln w="15875">
            <a:solidFill>
              <a:srgbClr val="D96C1A"/>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9555480" y="3886200"/>
            <a:ext cx="1737360" cy="868680"/>
          </a:xfrm>
          <a:prstGeom prst="rect">
            <a:avLst/>
          </a:prstGeom>
          <a:solidFill>
            <a:srgbClr val="FDF0E6"/>
          </a:solidFill>
          <a:ln w="12700">
            <a:solidFill>
              <a:srgbClr val="D96C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50" b="0" i="0">
                <a:solidFill>
                  <a:srgbClr val="5F6B7A"/>
                </a:solidFill>
                <a:latin typeface="Calibri"/>
              </a:rPr>
              <a:t>«system»</a:t>
            </a:r>
          </a:p>
          <a:p>
            <a:pPr algn="ctr"/>
            <a:r>
              <a:rPr sz="1200" b="1" i="0">
                <a:solidFill>
                  <a:srgbClr val="D96C1A"/>
                </a:solidFill>
                <a:latin typeface="Calibri"/>
              </a:rPr>
              <a:t>Ubuntu X11 desktop</a:t>
            </a:r>
          </a:p>
          <a:p>
            <a:pPr algn="ctr"/>
            <a:r>
              <a:rPr sz="950" b="0" i="0">
                <a:solidFill>
                  <a:srgbClr val="5F6B7A"/>
                </a:solidFill>
                <a:latin typeface="Calibri"/>
              </a:rPr>
              <a:t>capture · XTest inject</a:t>
            </a:r>
          </a:p>
        </p:txBody>
      </p:sp>
      <p:cxnSp>
        <p:nvCxnSpPr>
          <p:cNvPr id="52" name="Connector 51"/>
          <p:cNvCxnSpPr/>
          <p:nvPr/>
        </p:nvCxnSpPr>
        <p:spPr>
          <a:xfrm>
            <a:off x="5943600" y="2907791"/>
            <a:ext cx="3611880" cy="1408177"/>
          </a:xfrm>
          <a:prstGeom prst="line">
            <a:avLst/>
          </a:prstGeom>
          <a:ln w="15875">
            <a:solidFill>
              <a:srgbClr val="D96C1A"/>
            </a:solidFill>
            <a:prstDash val="lg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943600" y="3840480"/>
            <a:ext cx="3611880" cy="475488"/>
          </a:xfrm>
          <a:prstGeom prst="line">
            <a:avLst/>
          </a:prstGeom>
          <a:ln w="15875">
            <a:solidFill>
              <a:srgbClr val="D96C1A"/>
            </a:solidFill>
            <a:prstDash val="lgDash"/>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320040" y="6108192"/>
            <a:ext cx="11521440" cy="347472"/>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i="0">
                <a:solidFill>
                  <a:srgbClr val="1F2A44"/>
                </a:solidFill>
                <a:latin typeface="Calibri"/>
              </a:rPr>
              <a:t>Rules:  </a:t>
            </a:r>
            <a:r>
              <a:rPr sz="1100" b="0" i="0">
                <a:solidFill>
                  <a:srgbClr val="222833"/>
                </a:solidFill>
                <a:latin typeface="Calibri"/>
              </a:rPr>
              <a:t>one active viewer per host — a second is told “Host already has a viewer”   ·   every reconnect re-authenticates   ·   one person can wear both hats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p:txBody>
      </p:sp>
      <p:sp>
        <p:nvSpPr>
          <p:cNvPr id="3" name="TextBox 2"/>
          <p:cNvSpPr txBox="1"/>
          <p:nvPr/>
        </p:nvSpPr>
        <p:spPr>
          <a:xfrm>
            <a:off x="457200" y="128016"/>
            <a:ext cx="10058400" cy="502920"/>
          </a:xfrm>
          <a:prstGeom prst="rect">
            <a:avLst/>
          </a:prstGeom>
          <a:noFill/>
        </p:spPr>
        <p:txBody>
          <a:bodyPr wrap="square" anchor="t" lIns="36576" rIns="36576" tIns="18288" bIns="18288">
            <a:spAutoFit/>
          </a:bodyPr>
          <a:lstStyle/>
          <a:p>
            <a:pPr algn="l"/>
            <a:r>
              <a:rPr sz="2800" b="1" i="0">
                <a:solidFill>
                  <a:srgbClr val="FFFFFF"/>
                </a:solidFill>
                <a:latin typeface="Calibri"/>
              </a:rPr>
              <a:t>System Architecture</a:t>
            </a:r>
          </a:p>
        </p:txBody>
      </p:sp>
      <p:sp>
        <p:nvSpPr>
          <p:cNvPr id="4" name="TextBox 3"/>
          <p:cNvSpPr txBox="1"/>
          <p:nvPr/>
        </p:nvSpPr>
        <p:spPr>
          <a:xfrm>
            <a:off x="457200" y="566928"/>
            <a:ext cx="10515600" cy="320040"/>
          </a:xfrm>
          <a:prstGeom prst="rect">
            <a:avLst/>
          </a:prstGeom>
          <a:noFill/>
        </p:spPr>
        <p:txBody>
          <a:bodyPr wrap="square" anchor="t" lIns="36576" rIns="36576" tIns="18288" bIns="18288">
            <a:spAutoFit/>
          </a:bodyPr>
          <a:lstStyle/>
          <a:p>
            <a:pPr algn="l"/>
            <a:r>
              <a:rPr sz="1400" b="0" i="0">
                <a:solidFill>
                  <a:srgbClr val="C9D3E3"/>
                </a:solidFill>
                <a:latin typeface="Calibri"/>
              </a:rPr>
              <a:t>Two native C++20 binaries sharing one wire-protocol library — a peer session, not a REST API</a:t>
            </a:r>
          </a:p>
        </p:txBody>
      </p:sp>
      <p:sp>
        <p:nvSpPr>
          <p:cNvPr id="5" name="TextBox 4"/>
          <p:cNvSpPr txBox="1"/>
          <p:nvPr/>
        </p:nvSpPr>
        <p:spPr>
          <a:xfrm>
            <a:off x="11155680" y="274320"/>
            <a:ext cx="731520" cy="411480"/>
          </a:xfrm>
          <a:prstGeom prst="rect">
            <a:avLst/>
          </a:prstGeom>
          <a:noFill/>
        </p:spPr>
        <p:txBody>
          <a:bodyPr wrap="square" anchor="t" lIns="36576" rIns="36576" tIns="18288" bIns="18288">
            <a:spAutoFit/>
          </a:bodyPr>
          <a:lstStyle/>
          <a:p>
            <a:pPr algn="r"/>
            <a:r>
              <a:rPr sz="1300" b="0" i="0">
                <a:solidFill>
                  <a:srgbClr val="C9D3E3"/>
                </a:solidFill>
                <a:latin typeface="Calibri"/>
              </a:rPr>
              <a:t>3 / 5</a:t>
            </a:r>
          </a:p>
        </p:txBody>
      </p:sp>
      <p:sp>
        <p:nvSpPr>
          <p:cNvPr id="6" name="TextBox 5"/>
          <p:cNvSpPr txBox="1"/>
          <p:nvPr/>
        </p:nvSpPr>
        <p:spPr>
          <a:xfrm>
            <a:off x="457200" y="6492240"/>
            <a:ext cx="7315200" cy="274320"/>
          </a:xfrm>
          <a:prstGeom prst="rect">
            <a:avLst/>
          </a:prstGeom>
          <a:noFill/>
        </p:spPr>
        <p:txBody>
          <a:bodyPr wrap="square" anchor="t" lIns="36576" rIns="36576" tIns="18288" bIns="18288">
            <a:spAutoFit/>
          </a:bodyPr>
          <a:lstStyle/>
          <a:p>
            <a:pPr algn="l"/>
            <a:r>
              <a:rPr sz="1000" b="0" i="0">
                <a:solidFill>
                  <a:srgbClr val="5F6B7A"/>
                </a:solidFill>
                <a:latin typeface="Calibri"/>
              </a:rPr>
              <a:t>PeerDesk  ·  LAN/VPN remote desktop for small teams</a:t>
            </a:r>
          </a:p>
        </p:txBody>
      </p:sp>
      <p:sp>
        <p:nvSpPr>
          <p:cNvPr id="7" name="Rounded Rectangle 6"/>
          <p:cNvSpPr/>
          <p:nvPr/>
        </p:nvSpPr>
        <p:spPr>
          <a:xfrm>
            <a:off x="320040" y="1188720"/>
            <a:ext cx="3977639" cy="3977639"/>
          </a:xfrm>
          <a:prstGeom prst="roundRect">
            <a:avLst>
              <a:gd name="adj" fmla="val 8000"/>
            </a:avLst>
          </a:prstGeom>
          <a:solidFill>
            <a:srgbClr val="E8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8" name="TextBox 7"/>
          <p:cNvSpPr txBox="1"/>
          <p:nvPr/>
        </p:nvSpPr>
        <p:spPr>
          <a:xfrm>
            <a:off x="457200" y="1243584"/>
            <a:ext cx="3749039" cy="320040"/>
          </a:xfrm>
          <a:prstGeom prst="rect">
            <a:avLst/>
          </a:prstGeom>
          <a:noFill/>
        </p:spPr>
        <p:txBody>
          <a:bodyPr wrap="square" anchor="t" lIns="36576" rIns="36576" tIns="18288" bIns="18288">
            <a:spAutoFit/>
          </a:bodyPr>
          <a:lstStyle/>
          <a:p>
            <a:pPr algn="l"/>
            <a:r>
              <a:rPr sz="1300" b="1" i="0">
                <a:solidFill>
                  <a:srgbClr val="2F6FDE"/>
                </a:solidFill>
                <a:latin typeface="Calibri"/>
              </a:rPr>
              <a:t>VIEWER  </a:t>
            </a:r>
            <a:r>
              <a:rPr sz="1100" b="0" i="0">
                <a:solidFill>
                  <a:srgbClr val="5F6B7A"/>
                </a:solidFill>
                <a:latin typeface="Calibri"/>
              </a:rPr>
              <a:t>peerdesk-client · macOS / Ubuntu</a:t>
            </a:r>
          </a:p>
        </p:txBody>
      </p:sp>
      <p:sp>
        <p:nvSpPr>
          <p:cNvPr id="9" name="Rounded Rectangle 8"/>
          <p:cNvSpPr/>
          <p:nvPr/>
        </p:nvSpPr>
        <p:spPr>
          <a:xfrm>
            <a:off x="502920" y="1645920"/>
            <a:ext cx="3611880" cy="731520"/>
          </a:xfrm>
          <a:prstGeom prst="roundRect">
            <a:avLst>
              <a:gd name="adj" fmla="val 8000"/>
            </a:avLst>
          </a:prstGeom>
          <a:solidFill>
            <a:srgbClr val="FFFFFF"/>
          </a:solidFill>
          <a:ln w="15875">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i="0">
                <a:solidFill>
                  <a:srgbClr val="2F6FDE"/>
                </a:solidFill>
                <a:latin typeface="Calibri"/>
              </a:rPr>
              <a:t>MainWindow</a:t>
            </a:r>
            <a:r>
              <a:rPr sz="1100" b="0" i="0">
                <a:solidFill>
                  <a:srgbClr val="5F6B7A"/>
                </a:solidFill>
                <a:latin typeface="Calibri"/>
              </a:rPr>
              <a:t>  Qt6 Widgets</a:t>
            </a:r>
          </a:p>
          <a:p>
            <a:pPr algn="l"/>
            <a:r>
              <a:rPr sz="1100" b="0" i="0">
                <a:solidFill>
                  <a:srgbClr val="222833"/>
                </a:solidFill>
                <a:latin typeface="Calibri"/>
              </a:rPr>
              <a:t>Connection form (IP, port, user, password), status &amp; errors</a:t>
            </a:r>
          </a:p>
        </p:txBody>
      </p:sp>
      <p:sp>
        <p:nvSpPr>
          <p:cNvPr id="10" name="Rounded Rectangle 9"/>
          <p:cNvSpPr/>
          <p:nvPr/>
        </p:nvSpPr>
        <p:spPr>
          <a:xfrm>
            <a:off x="502920" y="2560320"/>
            <a:ext cx="3611880" cy="731520"/>
          </a:xfrm>
          <a:prstGeom prst="roundRect">
            <a:avLst>
              <a:gd name="adj" fmla="val 8000"/>
            </a:avLst>
          </a:prstGeom>
          <a:solidFill>
            <a:srgbClr val="FFFFFF"/>
          </a:solidFill>
          <a:ln w="15875">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i="0">
                <a:solidFill>
                  <a:srgbClr val="2F6FDE"/>
                </a:solidFill>
                <a:latin typeface="Calibri"/>
              </a:rPr>
              <a:t>VideoSurface</a:t>
            </a:r>
          </a:p>
          <a:p>
            <a:pPr algn="l"/>
            <a:r>
              <a:rPr sz="1100" b="0" i="0">
                <a:solidFill>
                  <a:srgbClr val="222833"/>
                </a:solidFill>
                <a:latin typeface="Calibri"/>
              </a:rPr>
              <a:t>Paints frames · captures mouse/keys · maps widget → host coords</a:t>
            </a:r>
          </a:p>
        </p:txBody>
      </p:sp>
      <p:sp>
        <p:nvSpPr>
          <p:cNvPr id="11" name="Rounded Rectangle 10"/>
          <p:cNvSpPr/>
          <p:nvPr/>
        </p:nvSpPr>
        <p:spPr>
          <a:xfrm>
            <a:off x="502920" y="3474720"/>
            <a:ext cx="1600200" cy="640080"/>
          </a:xfrm>
          <a:prstGeom prst="roundRect">
            <a:avLst>
              <a:gd name="adj" fmla="val 8000"/>
            </a:avLst>
          </a:prstGeom>
          <a:solidFill>
            <a:srgbClr val="FFFFFF"/>
          </a:solidFill>
          <a:ln w="15875">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i="0">
                <a:solidFill>
                  <a:srgbClr val="2F6FDE"/>
                </a:solidFill>
                <a:latin typeface="Calibri"/>
              </a:rPr>
              <a:t>keymap</a:t>
            </a:r>
          </a:p>
          <a:p>
            <a:pPr algn="l"/>
            <a:r>
              <a:rPr sz="1100" b="0" i="0">
                <a:solidFill>
                  <a:srgbClr val="222833"/>
                </a:solidFill>
                <a:latin typeface="Calibri"/>
              </a:rPr>
              <a:t>Qt key → X11 keysym</a:t>
            </a:r>
          </a:p>
        </p:txBody>
      </p:sp>
      <p:sp>
        <p:nvSpPr>
          <p:cNvPr id="12" name="Rounded Rectangle 11"/>
          <p:cNvSpPr/>
          <p:nvPr/>
        </p:nvSpPr>
        <p:spPr>
          <a:xfrm>
            <a:off x="502920" y="4297680"/>
            <a:ext cx="3611880" cy="731520"/>
          </a:xfrm>
          <a:prstGeom prst="roundRect">
            <a:avLst>
              <a:gd name="adj" fmla="val 8000"/>
            </a:avLst>
          </a:prstGeom>
          <a:solidFill>
            <a:srgbClr val="FFFFFF"/>
          </a:solidFill>
          <a:ln w="15875">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i="0">
                <a:solidFill>
                  <a:srgbClr val="2F6FDE"/>
                </a:solidFill>
                <a:latin typeface="Calibri"/>
              </a:rPr>
              <a:t>SessionWorker</a:t>
            </a:r>
            <a:r>
              <a:rPr sz="1100" b="0" i="0">
                <a:solidFill>
                  <a:srgbClr val="5F6B7A"/>
                </a:solidFill>
                <a:latin typeface="Calibri"/>
              </a:rPr>
              <a:t>  own QThread</a:t>
            </a:r>
          </a:p>
          <a:p>
            <a:pPr algn="l"/>
            <a:r>
              <a:rPr sz="1100" b="0" i="0">
                <a:solidFill>
                  <a:srgbClr val="222833"/>
                </a:solidFill>
                <a:latin typeface="Calibri"/>
              </a:rPr>
              <a:t>TLS conn · auth · JPEG decode · ping · input queue</a:t>
            </a:r>
          </a:p>
        </p:txBody>
      </p:sp>
      <p:cxnSp>
        <p:nvCxnSpPr>
          <p:cNvPr id="13" name="Connector 12"/>
          <p:cNvCxnSpPr/>
          <p:nvPr/>
        </p:nvCxnSpPr>
        <p:spPr>
          <a:xfrm>
            <a:off x="2304288" y="2377440"/>
            <a:ext cx="0" cy="182880"/>
          </a:xfrm>
          <a:prstGeom prst="line">
            <a:avLst/>
          </a:prstGeom>
          <a:ln w="19050">
            <a:solidFill>
              <a:srgbClr val="2F6FDE"/>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298448" y="3291840"/>
            <a:ext cx="0" cy="182880"/>
          </a:xfrm>
          <a:prstGeom prst="line">
            <a:avLst/>
          </a:prstGeom>
          <a:ln w="19050">
            <a:solidFill>
              <a:srgbClr val="2F6FD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108960" y="3291840"/>
            <a:ext cx="0" cy="1005840"/>
          </a:xfrm>
          <a:prstGeom prst="line">
            <a:avLst/>
          </a:prstGeom>
          <a:ln w="19050">
            <a:solidFill>
              <a:srgbClr val="2F6FDE"/>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154680" y="3611880"/>
            <a:ext cx="1097280" cy="457200"/>
          </a:xfrm>
          <a:prstGeom prst="rect">
            <a:avLst/>
          </a:prstGeom>
          <a:noFill/>
        </p:spPr>
        <p:txBody>
          <a:bodyPr wrap="square" anchor="t" lIns="36576" rIns="36576" tIns="18288" bIns="18288">
            <a:spAutoFit/>
          </a:bodyPr>
          <a:lstStyle/>
          <a:p>
            <a:pPr algn="l"/>
            <a:r>
              <a:rPr sz="950" b="0" i="0">
                <a:solidFill>
                  <a:srgbClr val="5F6B7A"/>
                </a:solidFill>
                <a:latin typeface="Calibri"/>
              </a:rPr>
              <a:t>signals /
slots</a:t>
            </a:r>
          </a:p>
        </p:txBody>
      </p:sp>
      <p:sp>
        <p:nvSpPr>
          <p:cNvPr id="17" name="Rounded Rectangle 16"/>
          <p:cNvSpPr/>
          <p:nvPr/>
        </p:nvSpPr>
        <p:spPr>
          <a:xfrm>
            <a:off x="7909560" y="1188720"/>
            <a:ext cx="3977639" cy="3977639"/>
          </a:xfrm>
          <a:prstGeom prst="roundRect">
            <a:avLst>
              <a:gd name="adj" fmla="val 8000"/>
            </a:avLst>
          </a:prstGeom>
          <a:solidFill>
            <a:srgbClr val="FDF0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18" name="TextBox 17"/>
          <p:cNvSpPr txBox="1"/>
          <p:nvPr/>
        </p:nvSpPr>
        <p:spPr>
          <a:xfrm>
            <a:off x="8046720" y="1243584"/>
            <a:ext cx="3749039" cy="320040"/>
          </a:xfrm>
          <a:prstGeom prst="rect">
            <a:avLst/>
          </a:prstGeom>
          <a:noFill/>
        </p:spPr>
        <p:txBody>
          <a:bodyPr wrap="square" anchor="t" lIns="36576" rIns="36576" tIns="18288" bIns="18288">
            <a:spAutoFit/>
          </a:bodyPr>
          <a:lstStyle/>
          <a:p>
            <a:pPr algn="l"/>
            <a:r>
              <a:rPr sz="1300" b="1" i="0">
                <a:solidFill>
                  <a:srgbClr val="D96C1A"/>
                </a:solidFill>
                <a:latin typeface="Calibri"/>
              </a:rPr>
              <a:t>HOST  </a:t>
            </a:r>
            <a:r>
              <a:rPr sz="1100" b="0" i="0">
                <a:solidFill>
                  <a:srgbClr val="5F6B7A"/>
                </a:solidFill>
                <a:latin typeface="Calibri"/>
              </a:rPr>
              <a:t>peerdesk-server · Ubuntu (X11)</a:t>
            </a:r>
          </a:p>
        </p:txBody>
      </p:sp>
      <p:sp>
        <p:nvSpPr>
          <p:cNvPr id="19" name="Rounded Rectangle 18"/>
          <p:cNvSpPr/>
          <p:nvPr/>
        </p:nvSpPr>
        <p:spPr>
          <a:xfrm>
            <a:off x="8092440" y="1645920"/>
            <a:ext cx="3611880" cy="731520"/>
          </a:xfrm>
          <a:prstGeom prst="roundRect">
            <a:avLst>
              <a:gd name="adj" fmla="val 8000"/>
            </a:avLst>
          </a:prstGeom>
          <a:solidFill>
            <a:srgbClr val="FFFFFF"/>
          </a:solidFill>
          <a:ln w="15875">
            <a:solidFill>
              <a:srgbClr val="D96C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i="0">
                <a:solidFill>
                  <a:srgbClr val="D96C1A"/>
                </a:solidFill>
                <a:latin typeface="Calibri"/>
              </a:rPr>
              <a:t>HostServer</a:t>
            </a:r>
            <a:r>
              <a:rPr sz="1100" b="0" i="0">
                <a:solidFill>
                  <a:srgbClr val="5F6B7A"/>
                </a:solidFill>
                <a:latin typeface="Calibri"/>
              </a:rPr>
              <a:t>  accept loop</a:t>
            </a:r>
          </a:p>
          <a:p>
            <a:pPr algn="l"/>
            <a:r>
              <a:rPr sz="1100" b="0" i="0">
                <a:solidFill>
                  <a:srgbClr val="222833"/>
                </a:solidFill>
                <a:latin typeface="Calibri"/>
              </a:rPr>
              <a:t>TLS listener · handshake · atomic one-session gate</a:t>
            </a:r>
          </a:p>
        </p:txBody>
      </p:sp>
      <p:sp>
        <p:nvSpPr>
          <p:cNvPr id="20" name="Rounded Rectangle 19"/>
          <p:cNvSpPr/>
          <p:nvPr/>
        </p:nvSpPr>
        <p:spPr>
          <a:xfrm>
            <a:off x="8092440" y="2560320"/>
            <a:ext cx="1737360" cy="822960"/>
          </a:xfrm>
          <a:prstGeom prst="roundRect">
            <a:avLst>
              <a:gd name="adj" fmla="val 8000"/>
            </a:avLst>
          </a:prstGeom>
          <a:solidFill>
            <a:srgbClr val="FFFFFF"/>
          </a:solidFill>
          <a:ln w="15875">
            <a:solidFill>
              <a:srgbClr val="D96C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i="0">
                <a:solidFill>
                  <a:srgbClr val="D96C1A"/>
                </a:solidFill>
                <a:latin typeface="Calibri"/>
              </a:rPr>
              <a:t>UserStore</a:t>
            </a:r>
          </a:p>
          <a:p>
            <a:pPr algn="l"/>
            <a:r>
              <a:rPr sz="1100" b="0" i="0">
                <a:solidFill>
                  <a:srgbClr val="222833"/>
                </a:solidFill>
                <a:latin typeface="Calibri"/>
              </a:rPr>
              <a:t>Argon2id hashes + self-signed cert</a:t>
            </a:r>
          </a:p>
        </p:txBody>
      </p:sp>
      <p:sp>
        <p:nvSpPr>
          <p:cNvPr id="21" name="Rounded Rectangle 20"/>
          <p:cNvSpPr/>
          <p:nvPr/>
        </p:nvSpPr>
        <p:spPr>
          <a:xfrm>
            <a:off x="9966960" y="2560320"/>
            <a:ext cx="1737360" cy="822960"/>
          </a:xfrm>
          <a:prstGeom prst="roundRect">
            <a:avLst>
              <a:gd name="adj" fmla="val 8000"/>
            </a:avLst>
          </a:prstGeom>
          <a:solidFill>
            <a:srgbClr val="FFFFFF"/>
          </a:solidFill>
          <a:ln w="15875">
            <a:solidFill>
              <a:srgbClr val="D96C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i="0">
                <a:solidFill>
                  <a:srgbClr val="D96C1A"/>
                </a:solidFill>
                <a:latin typeface="Calibri"/>
              </a:rPr>
              <a:t>Session thread</a:t>
            </a:r>
          </a:p>
          <a:p>
            <a:pPr algn="l"/>
            <a:r>
              <a:rPr sz="1100" b="0" i="0">
                <a:solidFill>
                  <a:srgbClr val="222833"/>
                </a:solidFill>
                <a:latin typeface="Calibri"/>
              </a:rPr>
              <a:t>input loop · Ping/Pong · 8 s timeout</a:t>
            </a:r>
          </a:p>
        </p:txBody>
      </p:sp>
      <p:sp>
        <p:nvSpPr>
          <p:cNvPr id="22" name="Rounded Rectangle 21"/>
          <p:cNvSpPr/>
          <p:nvPr/>
        </p:nvSpPr>
        <p:spPr>
          <a:xfrm>
            <a:off x="8092440" y="3566160"/>
            <a:ext cx="1737360" cy="1463040"/>
          </a:xfrm>
          <a:prstGeom prst="roundRect">
            <a:avLst>
              <a:gd name="adj" fmla="val 8000"/>
            </a:avLst>
          </a:prstGeom>
          <a:solidFill>
            <a:srgbClr val="FFFFFF"/>
          </a:solidFill>
          <a:ln w="15875">
            <a:solidFill>
              <a:srgbClr val="D96C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i="0">
                <a:solidFill>
                  <a:srgbClr val="D96C1A"/>
                </a:solidFill>
                <a:latin typeface="Calibri"/>
              </a:rPr>
              <a:t>Capture thread</a:t>
            </a:r>
          </a:p>
          <a:p>
            <a:pPr algn="l"/>
            <a:r>
              <a:rPr sz="1100" b="0" i="0">
                <a:solidFill>
                  <a:srgbClr val="222833"/>
                </a:solidFill>
                <a:latin typeface="Calibri"/>
              </a:rPr>
              <a:t>X11Capture or SyntheticCapture → JPEG @ ~10 fps</a:t>
            </a:r>
          </a:p>
        </p:txBody>
      </p:sp>
      <p:sp>
        <p:nvSpPr>
          <p:cNvPr id="23" name="Rounded Rectangle 22"/>
          <p:cNvSpPr/>
          <p:nvPr/>
        </p:nvSpPr>
        <p:spPr>
          <a:xfrm>
            <a:off x="9966960" y="3566160"/>
            <a:ext cx="1737360" cy="1463040"/>
          </a:xfrm>
          <a:prstGeom prst="roundRect">
            <a:avLst>
              <a:gd name="adj" fmla="val 8000"/>
            </a:avLst>
          </a:prstGeom>
          <a:solidFill>
            <a:srgbClr val="FFFFFF"/>
          </a:solidFill>
          <a:ln w="15875">
            <a:solidFill>
              <a:srgbClr val="D96C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i="0">
                <a:solidFill>
                  <a:srgbClr val="D96C1A"/>
                </a:solidFill>
                <a:latin typeface="Calibri"/>
              </a:rPr>
              <a:t>InputInject</a:t>
            </a:r>
          </a:p>
          <a:p>
            <a:pPr algn="l"/>
            <a:r>
              <a:rPr sz="1100" b="0" i="0">
                <a:solidFill>
                  <a:srgbClr val="222833"/>
                </a:solidFill>
                <a:latin typeface="Calibri"/>
              </a:rPr>
              <a:t>XTest: mouse move / button / wheel, keys</a:t>
            </a:r>
          </a:p>
        </p:txBody>
      </p:sp>
      <p:cxnSp>
        <p:nvCxnSpPr>
          <p:cNvPr id="24" name="Connector 23"/>
          <p:cNvCxnSpPr/>
          <p:nvPr/>
        </p:nvCxnSpPr>
        <p:spPr>
          <a:xfrm>
            <a:off x="8961120" y="2377440"/>
            <a:ext cx="0" cy="182880"/>
          </a:xfrm>
          <a:prstGeom prst="line">
            <a:avLst/>
          </a:prstGeom>
          <a:ln w="19050">
            <a:solidFill>
              <a:srgbClr val="D96C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835640" y="2377440"/>
            <a:ext cx="0" cy="182880"/>
          </a:xfrm>
          <a:prstGeom prst="line">
            <a:avLst/>
          </a:prstGeom>
          <a:ln w="19050">
            <a:solidFill>
              <a:srgbClr val="D96C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835640" y="3383280"/>
            <a:ext cx="0" cy="182880"/>
          </a:xfrm>
          <a:prstGeom prst="line">
            <a:avLst/>
          </a:prstGeom>
          <a:ln w="19050">
            <a:solidFill>
              <a:srgbClr val="D96C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8961120" y="3200400"/>
            <a:ext cx="1005840" cy="365760"/>
          </a:xfrm>
          <a:prstGeom prst="line">
            <a:avLst/>
          </a:prstGeom>
          <a:ln w="19050">
            <a:solidFill>
              <a:srgbClr val="D96C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526280" y="1188720"/>
            <a:ext cx="3154680" cy="3977639"/>
          </a:xfrm>
          <a:prstGeom prst="roundRect">
            <a:avLst>
              <a:gd name="adj" fmla="val 8000"/>
            </a:avLst>
          </a:prstGeom>
          <a:solidFill>
            <a:srgbClr val="E6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29" name="TextBox 28"/>
          <p:cNvSpPr txBox="1"/>
          <p:nvPr/>
        </p:nvSpPr>
        <p:spPr>
          <a:xfrm>
            <a:off x="4617720" y="1243584"/>
            <a:ext cx="3017520" cy="548640"/>
          </a:xfrm>
          <a:prstGeom prst="rect">
            <a:avLst/>
          </a:prstGeom>
          <a:noFill/>
        </p:spPr>
        <p:txBody>
          <a:bodyPr wrap="square" anchor="t" lIns="36576" rIns="36576" tIns="18288" bIns="18288">
            <a:spAutoFit/>
          </a:bodyPr>
          <a:lstStyle/>
          <a:p>
            <a:pPr algn="ctr"/>
            <a:r>
              <a:rPr sz="1300" b="1" i="0">
                <a:solidFill>
                  <a:srgbClr val="0E8F7E"/>
                </a:solidFill>
                <a:latin typeface="Calibri"/>
              </a:rPr>
              <a:t>TLS 1.2+ over TCP</a:t>
            </a:r>
          </a:p>
          <a:p>
            <a:pPr algn="ctr"/>
            <a:r>
              <a:rPr sz="1050" b="0" i="0">
                <a:solidFill>
                  <a:srgbClr val="5F6B7A"/>
                </a:solidFill>
                <a:latin typeface="Calibri"/>
              </a:rPr>
              <a:t>port 4473 · length-prefixed frames</a:t>
            </a:r>
          </a:p>
        </p:txBody>
      </p:sp>
      <p:cxnSp>
        <p:nvCxnSpPr>
          <p:cNvPr id="30" name="Connector 29"/>
          <p:cNvCxnSpPr/>
          <p:nvPr/>
        </p:nvCxnSpPr>
        <p:spPr>
          <a:xfrm>
            <a:off x="4206240" y="2240280"/>
            <a:ext cx="3794760" cy="0"/>
          </a:xfrm>
          <a:prstGeom prst="line">
            <a:avLst/>
          </a:prstGeom>
          <a:ln w="28575">
            <a:solidFill>
              <a:srgbClr val="2F6F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617720" y="1828800"/>
            <a:ext cx="3017520" cy="411480"/>
          </a:xfrm>
          <a:prstGeom prst="rect">
            <a:avLst/>
          </a:prstGeom>
          <a:noFill/>
        </p:spPr>
        <p:txBody>
          <a:bodyPr wrap="square" anchor="t" lIns="36576" rIns="36576" tIns="18288" bIns="18288">
            <a:spAutoFit/>
          </a:bodyPr>
          <a:lstStyle/>
          <a:p>
            <a:pPr algn="ctr"/>
            <a:r>
              <a:rPr sz="1100" b="1" i="0">
                <a:solidFill>
                  <a:srgbClr val="2F6FDE"/>
                </a:solidFill>
                <a:latin typeface="Calibri"/>
              </a:rPr>
              <a:t>Hello · AuthResponse</a:t>
            </a:r>
          </a:p>
        </p:txBody>
      </p:sp>
      <p:cxnSp>
        <p:nvCxnSpPr>
          <p:cNvPr id="32" name="Connector 31"/>
          <p:cNvCxnSpPr/>
          <p:nvPr/>
        </p:nvCxnSpPr>
        <p:spPr>
          <a:xfrm flipH="1">
            <a:off x="4206240" y="3063240"/>
            <a:ext cx="3794760" cy="0"/>
          </a:xfrm>
          <a:prstGeom prst="line">
            <a:avLst/>
          </a:prstGeom>
          <a:ln w="28575">
            <a:solidFill>
              <a:srgbClr val="D96C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617720" y="2651760"/>
            <a:ext cx="3017520" cy="411480"/>
          </a:xfrm>
          <a:prstGeom prst="rect">
            <a:avLst/>
          </a:prstGeom>
          <a:noFill/>
        </p:spPr>
        <p:txBody>
          <a:bodyPr wrap="square" anchor="t" lIns="36576" rIns="36576" tIns="18288" bIns="18288">
            <a:spAutoFit/>
          </a:bodyPr>
          <a:lstStyle/>
          <a:p>
            <a:pPr algn="ctr"/>
            <a:r>
              <a:rPr sz="1100" b="1" i="0">
                <a:solidFill>
                  <a:srgbClr val="D96C1A"/>
                </a:solidFill>
                <a:latin typeface="Calibri"/>
              </a:rPr>
              <a:t>AuthChallenge · AuthOk / AuthFail</a:t>
            </a:r>
          </a:p>
        </p:txBody>
      </p:sp>
      <p:cxnSp>
        <p:nvCxnSpPr>
          <p:cNvPr id="34" name="Connector 33"/>
          <p:cNvCxnSpPr/>
          <p:nvPr/>
        </p:nvCxnSpPr>
        <p:spPr>
          <a:xfrm flipH="1">
            <a:off x="4206240" y="3886200"/>
            <a:ext cx="3794760" cy="0"/>
          </a:xfrm>
          <a:prstGeom prst="line">
            <a:avLst/>
          </a:prstGeom>
          <a:ln w="44450">
            <a:solidFill>
              <a:srgbClr val="D96C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617720" y="3474720"/>
            <a:ext cx="3017520" cy="411480"/>
          </a:xfrm>
          <a:prstGeom prst="rect">
            <a:avLst/>
          </a:prstGeom>
          <a:noFill/>
        </p:spPr>
        <p:txBody>
          <a:bodyPr wrap="square" anchor="t" lIns="36576" rIns="36576" tIns="18288" bIns="18288">
            <a:spAutoFit/>
          </a:bodyPr>
          <a:lstStyle/>
          <a:p>
            <a:pPr algn="ctr"/>
            <a:r>
              <a:rPr sz="1100" b="1" i="0">
                <a:solidFill>
                  <a:srgbClr val="D96C1A"/>
                </a:solidFill>
                <a:latin typeface="Calibri"/>
              </a:rPr>
              <a:t>VideoFrame (JPEG) · Pong</a:t>
            </a:r>
          </a:p>
        </p:txBody>
      </p:sp>
      <p:cxnSp>
        <p:nvCxnSpPr>
          <p:cNvPr id="36" name="Connector 35"/>
          <p:cNvCxnSpPr/>
          <p:nvPr/>
        </p:nvCxnSpPr>
        <p:spPr>
          <a:xfrm>
            <a:off x="4206240" y="4663440"/>
            <a:ext cx="3794760" cy="0"/>
          </a:xfrm>
          <a:prstGeom prst="line">
            <a:avLst/>
          </a:prstGeom>
          <a:ln w="28575">
            <a:solidFill>
              <a:srgbClr val="2F6F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617720" y="4251960"/>
            <a:ext cx="3017520" cy="411480"/>
          </a:xfrm>
          <a:prstGeom prst="rect">
            <a:avLst/>
          </a:prstGeom>
          <a:noFill/>
        </p:spPr>
        <p:txBody>
          <a:bodyPr wrap="square" anchor="t" lIns="36576" rIns="36576" tIns="18288" bIns="18288">
            <a:spAutoFit/>
          </a:bodyPr>
          <a:lstStyle/>
          <a:p>
            <a:pPr algn="ctr"/>
            <a:r>
              <a:rPr sz="1100" b="1" i="0">
                <a:solidFill>
                  <a:srgbClr val="2F6FDE"/>
                </a:solidFill>
                <a:latin typeface="Calibri"/>
              </a:rPr>
              <a:t>Mouse · Key · Ping · Disconnect</a:t>
            </a:r>
          </a:p>
        </p:txBody>
      </p:sp>
      <p:sp>
        <p:nvSpPr>
          <p:cNvPr id="38" name="TextBox 37"/>
          <p:cNvSpPr txBox="1"/>
          <p:nvPr/>
        </p:nvSpPr>
        <p:spPr>
          <a:xfrm>
            <a:off x="4617720" y="4736592"/>
            <a:ext cx="3017520" cy="365760"/>
          </a:xfrm>
          <a:prstGeom prst="rect">
            <a:avLst/>
          </a:prstGeom>
          <a:noFill/>
        </p:spPr>
        <p:txBody>
          <a:bodyPr wrap="square" anchor="t" lIns="36576" rIns="36576" tIns="18288" bIns="18288">
            <a:spAutoFit/>
          </a:bodyPr>
          <a:lstStyle/>
          <a:p>
            <a:pPr algn="ctr"/>
            <a:r>
              <a:rPr sz="950" b="0" i="0">
                <a:solidFill>
                  <a:srgbClr val="5F6B7A"/>
                </a:solidFill>
                <a:latin typeface="Calibri"/>
              </a:rPr>
              <a:t>input has its own path — never queued behind video</a:t>
            </a:r>
          </a:p>
        </p:txBody>
      </p:sp>
      <p:sp>
        <p:nvSpPr>
          <p:cNvPr id="39" name="Rounded Rectangle 38"/>
          <p:cNvSpPr/>
          <p:nvPr/>
        </p:nvSpPr>
        <p:spPr>
          <a:xfrm>
            <a:off x="320040" y="5349240"/>
            <a:ext cx="11567160" cy="1051560"/>
          </a:xfrm>
          <a:prstGeom prst="roundRect">
            <a:avLst>
              <a:gd name="adj" fmla="val 8000"/>
            </a:avLst>
          </a:prstGeom>
          <a:solidFill>
            <a:srgbClr val="F1ED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0" name="TextBox 39"/>
          <p:cNvSpPr txBox="1"/>
          <p:nvPr/>
        </p:nvSpPr>
        <p:spPr>
          <a:xfrm>
            <a:off x="457200" y="5394960"/>
            <a:ext cx="7315200" cy="320040"/>
          </a:xfrm>
          <a:prstGeom prst="rect">
            <a:avLst/>
          </a:prstGeom>
          <a:noFill/>
        </p:spPr>
        <p:txBody>
          <a:bodyPr wrap="square" anchor="t" lIns="36576" rIns="36576" tIns="18288" bIns="18288">
            <a:spAutoFit/>
          </a:bodyPr>
          <a:lstStyle/>
          <a:p>
            <a:pPr algn="l"/>
            <a:r>
              <a:rPr sz="1300" b="1" i="0">
                <a:solidFill>
                  <a:srgbClr val="6E4FC0"/>
                </a:solidFill>
                <a:latin typeface="Calibri"/>
              </a:rPr>
              <a:t>SHARED  </a:t>
            </a:r>
            <a:r>
              <a:rPr sz="1100" b="0" i="0">
                <a:solidFill>
                  <a:srgbClr val="5F6B7A"/>
                </a:solidFill>
                <a:latin typeface="Calibri"/>
              </a:rPr>
              <a:t>libpeerdesk_shared · linked into client, server and tests</a:t>
            </a:r>
          </a:p>
        </p:txBody>
      </p:sp>
      <p:sp>
        <p:nvSpPr>
          <p:cNvPr id="41" name="Rounded Rectangle 40"/>
          <p:cNvSpPr/>
          <p:nvPr/>
        </p:nvSpPr>
        <p:spPr>
          <a:xfrm>
            <a:off x="502920" y="5742432"/>
            <a:ext cx="1783080" cy="566928"/>
          </a:xfrm>
          <a:prstGeom prst="roundRect">
            <a:avLst>
              <a:gd name="adj" fmla="val 8000"/>
            </a:avLst>
          </a:prstGeom>
          <a:solidFill>
            <a:srgbClr val="FFFFFF"/>
          </a:solidFill>
          <a:ln w="15875">
            <a:solidFill>
              <a:srgbClr val="6E4FC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i="0">
                <a:solidFill>
                  <a:srgbClr val="6E4FC0"/>
                </a:solidFill>
                <a:latin typeface="Consolas"/>
              </a:rPr>
              <a:t>protocol</a:t>
            </a:r>
          </a:p>
          <a:p>
            <a:pPr algn="ctr"/>
            <a:r>
              <a:rPr sz="950" b="0" i="0">
                <a:solidFill>
                  <a:srgbClr val="5F6B7A"/>
                </a:solidFill>
                <a:latin typeface="Calibri"/>
              </a:rPr>
              <a:t>12 message types, pack/unpack</a:t>
            </a:r>
          </a:p>
        </p:txBody>
      </p:sp>
      <p:sp>
        <p:nvSpPr>
          <p:cNvPr id="42" name="Rounded Rectangle 41"/>
          <p:cNvSpPr/>
          <p:nvPr/>
        </p:nvSpPr>
        <p:spPr>
          <a:xfrm>
            <a:off x="2395728" y="5742432"/>
            <a:ext cx="1783080" cy="566928"/>
          </a:xfrm>
          <a:prstGeom prst="roundRect">
            <a:avLst>
              <a:gd name="adj" fmla="val 8000"/>
            </a:avLst>
          </a:prstGeom>
          <a:solidFill>
            <a:srgbClr val="FFFFFF"/>
          </a:solidFill>
          <a:ln w="15875">
            <a:solidFill>
              <a:srgbClr val="6E4FC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i="0">
                <a:solidFill>
                  <a:srgbClr val="6E4FC0"/>
                </a:solidFill>
                <a:latin typeface="Consolas"/>
              </a:rPr>
              <a:t>tls</a:t>
            </a:r>
          </a:p>
          <a:p>
            <a:pPr algn="ctr"/>
            <a:r>
              <a:rPr sz="950" b="0" i="0">
                <a:solidFill>
                  <a:srgbClr val="5F6B7A"/>
                </a:solidFill>
                <a:latin typeface="Calibri"/>
              </a:rPr>
              <a:t>OpenSSL listener / conn</a:t>
            </a:r>
          </a:p>
        </p:txBody>
      </p:sp>
      <p:sp>
        <p:nvSpPr>
          <p:cNvPr id="43" name="Rounded Rectangle 42"/>
          <p:cNvSpPr/>
          <p:nvPr/>
        </p:nvSpPr>
        <p:spPr>
          <a:xfrm>
            <a:off x="4288536" y="5742432"/>
            <a:ext cx="1783080" cy="566928"/>
          </a:xfrm>
          <a:prstGeom prst="roundRect">
            <a:avLst>
              <a:gd name="adj" fmla="val 8000"/>
            </a:avLst>
          </a:prstGeom>
          <a:solidFill>
            <a:srgbClr val="FFFFFF"/>
          </a:solidFill>
          <a:ln w="15875">
            <a:solidFill>
              <a:srgbClr val="6E4FC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i="0">
                <a:solidFill>
                  <a:srgbClr val="6E4FC0"/>
                </a:solidFill>
                <a:latin typeface="Consolas"/>
              </a:rPr>
              <a:t>auth</a:t>
            </a:r>
          </a:p>
          <a:p>
            <a:pPr algn="ctr"/>
            <a:r>
              <a:rPr sz="950" b="0" i="0">
                <a:solidFill>
                  <a:srgbClr val="5F6B7A"/>
                </a:solidFill>
                <a:latin typeface="Calibri"/>
              </a:rPr>
              <a:t>Argon2id · HMAC-SHA256</a:t>
            </a:r>
          </a:p>
        </p:txBody>
      </p:sp>
      <p:sp>
        <p:nvSpPr>
          <p:cNvPr id="44" name="Rounded Rectangle 43"/>
          <p:cNvSpPr/>
          <p:nvPr/>
        </p:nvSpPr>
        <p:spPr>
          <a:xfrm>
            <a:off x="6181343" y="5742432"/>
            <a:ext cx="1783080" cy="566928"/>
          </a:xfrm>
          <a:prstGeom prst="roundRect">
            <a:avLst>
              <a:gd name="adj" fmla="val 8000"/>
            </a:avLst>
          </a:prstGeom>
          <a:solidFill>
            <a:srgbClr val="FFFFFF"/>
          </a:solidFill>
          <a:ln w="15875">
            <a:solidFill>
              <a:srgbClr val="6E4FC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i="0">
                <a:solidFill>
                  <a:srgbClr val="6E4FC0"/>
                </a:solidFill>
                <a:latin typeface="Consolas"/>
              </a:rPr>
              <a:t>jpeg</a:t>
            </a:r>
          </a:p>
          <a:p>
            <a:pPr algn="ctr"/>
            <a:r>
              <a:rPr sz="950" b="0" i="0">
                <a:solidFill>
                  <a:srgbClr val="5F6B7A"/>
                </a:solidFill>
                <a:latin typeface="Calibri"/>
              </a:rPr>
              <a:t>libjpeg encode/decode</a:t>
            </a:r>
          </a:p>
        </p:txBody>
      </p:sp>
      <p:sp>
        <p:nvSpPr>
          <p:cNvPr id="45" name="Rounded Rectangle 44"/>
          <p:cNvSpPr/>
          <p:nvPr/>
        </p:nvSpPr>
        <p:spPr>
          <a:xfrm>
            <a:off x="8074152" y="5742432"/>
            <a:ext cx="1783080" cy="566928"/>
          </a:xfrm>
          <a:prstGeom prst="roundRect">
            <a:avLst>
              <a:gd name="adj" fmla="val 8000"/>
            </a:avLst>
          </a:prstGeom>
          <a:solidFill>
            <a:srgbClr val="FFFFFF"/>
          </a:solidFill>
          <a:ln w="15875">
            <a:solidFill>
              <a:srgbClr val="6E4FC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i="0">
                <a:solidFill>
                  <a:srgbClr val="6E4FC0"/>
                </a:solidFill>
                <a:latin typeface="Consolas"/>
              </a:rPr>
              <a:t>map</a:t>
            </a:r>
          </a:p>
          <a:p>
            <a:pPr algn="ctr"/>
            <a:r>
              <a:rPr sz="950" b="0" i="0">
                <a:solidFill>
                  <a:srgbClr val="5F6B7A"/>
                </a:solidFill>
                <a:latin typeface="Calibri"/>
              </a:rPr>
              <a:t>widget ↔ host coords</a:t>
            </a:r>
          </a:p>
        </p:txBody>
      </p:sp>
      <p:sp>
        <p:nvSpPr>
          <p:cNvPr id="46" name="Rounded Rectangle 45"/>
          <p:cNvSpPr/>
          <p:nvPr/>
        </p:nvSpPr>
        <p:spPr>
          <a:xfrm>
            <a:off x="9966960" y="5742432"/>
            <a:ext cx="1783080" cy="566928"/>
          </a:xfrm>
          <a:prstGeom prst="roundRect">
            <a:avLst>
              <a:gd name="adj" fmla="val 8000"/>
            </a:avLst>
          </a:prstGeom>
          <a:solidFill>
            <a:srgbClr val="FFFFFF"/>
          </a:solidFill>
          <a:ln w="15875">
            <a:solidFill>
              <a:srgbClr val="6E4FC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i="0">
                <a:solidFill>
                  <a:srgbClr val="6E4FC0"/>
                </a:solidFill>
                <a:latin typeface="Consolas"/>
              </a:rPr>
              <a:t>bytes</a:t>
            </a:r>
          </a:p>
          <a:p>
            <a:pPr algn="ctr"/>
            <a:r>
              <a:rPr sz="950" b="0" i="0">
                <a:solidFill>
                  <a:srgbClr val="5F6B7A"/>
                </a:solidFill>
                <a:latin typeface="Calibri"/>
              </a:rPr>
              <a:t>endian helpers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p:txBody>
      </p:sp>
      <p:sp>
        <p:nvSpPr>
          <p:cNvPr id="3" name="TextBox 2"/>
          <p:cNvSpPr txBox="1"/>
          <p:nvPr/>
        </p:nvSpPr>
        <p:spPr>
          <a:xfrm>
            <a:off x="457200" y="128016"/>
            <a:ext cx="10058400" cy="502920"/>
          </a:xfrm>
          <a:prstGeom prst="rect">
            <a:avLst/>
          </a:prstGeom>
          <a:noFill/>
        </p:spPr>
        <p:txBody>
          <a:bodyPr wrap="square" anchor="t" lIns="36576" rIns="36576" tIns="18288" bIns="18288">
            <a:spAutoFit/>
          </a:bodyPr>
          <a:lstStyle/>
          <a:p>
            <a:pPr algn="l"/>
            <a:r>
              <a:rPr sz="2800" b="1" i="0">
                <a:solidFill>
                  <a:srgbClr val="FFFFFF"/>
                </a:solidFill>
                <a:latin typeface="Calibri"/>
              </a:rPr>
              <a:t>Session Lifecycle &amp; Security</a:t>
            </a:r>
          </a:p>
        </p:txBody>
      </p:sp>
      <p:sp>
        <p:nvSpPr>
          <p:cNvPr id="4" name="TextBox 3"/>
          <p:cNvSpPr txBox="1"/>
          <p:nvPr/>
        </p:nvSpPr>
        <p:spPr>
          <a:xfrm>
            <a:off x="457200" y="566928"/>
            <a:ext cx="10515600" cy="320040"/>
          </a:xfrm>
          <a:prstGeom prst="rect">
            <a:avLst/>
          </a:prstGeom>
          <a:noFill/>
        </p:spPr>
        <p:txBody>
          <a:bodyPr wrap="square" anchor="t" lIns="36576" rIns="36576" tIns="18288" bIns="18288">
            <a:spAutoFit/>
          </a:bodyPr>
          <a:lstStyle/>
          <a:p>
            <a:pPr algn="l"/>
            <a:r>
              <a:rPr sz="1400" b="0" i="0">
                <a:solidFill>
                  <a:srgbClr val="C9D3E3"/>
                </a:solidFill>
                <a:latin typeface="Calibri"/>
              </a:rPr>
              <a:t>Journeys J1 → J2 → J3 on the wire: authenticate, stream and control, then release the session</a:t>
            </a:r>
          </a:p>
        </p:txBody>
      </p:sp>
      <p:sp>
        <p:nvSpPr>
          <p:cNvPr id="5" name="TextBox 4"/>
          <p:cNvSpPr txBox="1"/>
          <p:nvPr/>
        </p:nvSpPr>
        <p:spPr>
          <a:xfrm>
            <a:off x="11155680" y="274320"/>
            <a:ext cx="731520" cy="411480"/>
          </a:xfrm>
          <a:prstGeom prst="rect">
            <a:avLst/>
          </a:prstGeom>
          <a:noFill/>
        </p:spPr>
        <p:txBody>
          <a:bodyPr wrap="square" anchor="t" lIns="36576" rIns="36576" tIns="18288" bIns="18288">
            <a:spAutoFit/>
          </a:bodyPr>
          <a:lstStyle/>
          <a:p>
            <a:pPr algn="r"/>
            <a:r>
              <a:rPr sz="1300" b="0" i="0">
                <a:solidFill>
                  <a:srgbClr val="C9D3E3"/>
                </a:solidFill>
                <a:latin typeface="Calibri"/>
              </a:rPr>
              <a:t>4 / 5</a:t>
            </a:r>
          </a:p>
        </p:txBody>
      </p:sp>
      <p:sp>
        <p:nvSpPr>
          <p:cNvPr id="6" name="TextBox 5"/>
          <p:cNvSpPr txBox="1"/>
          <p:nvPr/>
        </p:nvSpPr>
        <p:spPr>
          <a:xfrm>
            <a:off x="457200" y="6492240"/>
            <a:ext cx="7315200" cy="274320"/>
          </a:xfrm>
          <a:prstGeom prst="rect">
            <a:avLst/>
          </a:prstGeom>
          <a:noFill/>
        </p:spPr>
        <p:txBody>
          <a:bodyPr wrap="square" anchor="t" lIns="36576" rIns="36576" tIns="18288" bIns="18288">
            <a:spAutoFit/>
          </a:bodyPr>
          <a:lstStyle/>
          <a:p>
            <a:pPr algn="l"/>
            <a:r>
              <a:rPr sz="1000" b="0" i="0">
                <a:solidFill>
                  <a:srgbClr val="5F6B7A"/>
                </a:solidFill>
                <a:latin typeface="Calibri"/>
              </a:rPr>
              <a:t>PeerDesk  ·  LAN/VPN remote desktop for small teams</a:t>
            </a:r>
          </a:p>
        </p:txBody>
      </p:sp>
      <p:sp>
        <p:nvSpPr>
          <p:cNvPr id="7" name="Rounded Rectangle 6"/>
          <p:cNvSpPr/>
          <p:nvPr/>
        </p:nvSpPr>
        <p:spPr>
          <a:xfrm>
            <a:off x="502919" y="1143000"/>
            <a:ext cx="1645920" cy="411480"/>
          </a:xfrm>
          <a:prstGeom prst="roundRect">
            <a:avLst>
              <a:gd name="adj" fmla="val 8000"/>
            </a:avLst>
          </a:prstGeom>
          <a:solidFill>
            <a:srgbClr val="2F6F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Viewer client</a:t>
            </a:r>
          </a:p>
        </p:txBody>
      </p:sp>
      <p:cxnSp>
        <p:nvCxnSpPr>
          <p:cNvPr id="8" name="Connector 7"/>
          <p:cNvCxnSpPr/>
          <p:nvPr/>
        </p:nvCxnSpPr>
        <p:spPr>
          <a:xfrm>
            <a:off x="1325880" y="1554480"/>
            <a:ext cx="0" cy="4800600"/>
          </a:xfrm>
          <a:prstGeom prst="line">
            <a:avLst/>
          </a:prstGeom>
          <a:ln w="15875">
            <a:solidFill>
              <a:srgbClr val="9AA4B1"/>
            </a:solidFill>
            <a:prstDash val="lgDash"/>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931920" y="1143000"/>
            <a:ext cx="1645920" cy="411480"/>
          </a:xfrm>
          <a:prstGeom prst="roundRect">
            <a:avLst>
              <a:gd name="adj" fmla="val 8000"/>
            </a:avLst>
          </a:prstGeom>
          <a:solidFill>
            <a:srgbClr val="D96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Host server</a:t>
            </a:r>
          </a:p>
        </p:txBody>
      </p:sp>
      <p:cxnSp>
        <p:nvCxnSpPr>
          <p:cNvPr id="10" name="Connector 9"/>
          <p:cNvCxnSpPr/>
          <p:nvPr/>
        </p:nvCxnSpPr>
        <p:spPr>
          <a:xfrm>
            <a:off x="4754880" y="1554480"/>
            <a:ext cx="0" cy="4800600"/>
          </a:xfrm>
          <a:prstGeom prst="line">
            <a:avLst/>
          </a:prstGeom>
          <a:ln w="15875">
            <a:solidFill>
              <a:srgbClr val="9AA4B1"/>
            </a:solidFill>
            <a:prstDash val="lgDash"/>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63640" y="1143000"/>
            <a:ext cx="1645920" cy="411480"/>
          </a:xfrm>
          <a:prstGeom prst="roundRect">
            <a:avLst>
              <a:gd name="adj" fmla="val 8000"/>
            </a:avLst>
          </a:prstGeom>
          <a:solidFill>
            <a:srgbClr val="D96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X11 desktop</a:t>
            </a:r>
          </a:p>
        </p:txBody>
      </p:sp>
      <p:cxnSp>
        <p:nvCxnSpPr>
          <p:cNvPr id="12" name="Connector 11"/>
          <p:cNvCxnSpPr/>
          <p:nvPr/>
        </p:nvCxnSpPr>
        <p:spPr>
          <a:xfrm>
            <a:off x="7086600" y="1554480"/>
            <a:ext cx="0" cy="4800600"/>
          </a:xfrm>
          <a:prstGeom prst="line">
            <a:avLst/>
          </a:prstGeom>
          <a:ln w="15875">
            <a:solidFill>
              <a:srgbClr val="9AA4B1"/>
            </a:solidFill>
            <a:prstDash val="lg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880" y="1828800"/>
            <a:ext cx="3429000" cy="0"/>
          </a:xfrm>
          <a:prstGeom prst="line">
            <a:avLst/>
          </a:prstGeom>
          <a:ln w="19050">
            <a:solidFill>
              <a:srgbClr val="0E8F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280160" y="1554480"/>
            <a:ext cx="3520440" cy="256032"/>
          </a:xfrm>
          <a:prstGeom prst="rect">
            <a:avLst/>
          </a:prstGeom>
          <a:noFill/>
        </p:spPr>
        <p:txBody>
          <a:bodyPr wrap="square" anchor="t" lIns="36576" rIns="36576" tIns="18288" bIns="18288">
            <a:spAutoFit/>
          </a:bodyPr>
          <a:lstStyle/>
          <a:p>
            <a:pPr algn="ctr"/>
            <a:r>
              <a:rPr sz="1000" b="1" i="0">
                <a:solidFill>
                  <a:srgbClr val="0E8F7E"/>
                </a:solidFill>
                <a:latin typeface="Calibri"/>
              </a:rPr>
              <a:t>TLS handshake (self-signed cert)</a:t>
            </a:r>
          </a:p>
        </p:txBody>
      </p:sp>
      <p:cxnSp>
        <p:nvCxnSpPr>
          <p:cNvPr id="15" name="Connector 14"/>
          <p:cNvCxnSpPr/>
          <p:nvPr/>
        </p:nvCxnSpPr>
        <p:spPr>
          <a:xfrm>
            <a:off x="1325880" y="2231136"/>
            <a:ext cx="3429000" cy="0"/>
          </a:xfrm>
          <a:prstGeom prst="line">
            <a:avLst/>
          </a:prstGeom>
          <a:ln w="19050">
            <a:solidFill>
              <a:srgbClr val="2F6F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80160" y="1956816"/>
            <a:ext cx="3520440" cy="256032"/>
          </a:xfrm>
          <a:prstGeom prst="rect">
            <a:avLst/>
          </a:prstGeom>
          <a:noFill/>
        </p:spPr>
        <p:txBody>
          <a:bodyPr wrap="square" anchor="t" lIns="36576" rIns="36576" tIns="18288" bIns="18288">
            <a:spAutoFit/>
          </a:bodyPr>
          <a:lstStyle/>
          <a:p>
            <a:pPr algn="ctr"/>
            <a:r>
              <a:rPr sz="1000" b="1" i="0">
                <a:solidFill>
                  <a:srgbClr val="2F6FDE"/>
                </a:solidFill>
                <a:latin typeface="Calibri"/>
              </a:rPr>
              <a:t>Hello {version, username}</a:t>
            </a:r>
          </a:p>
        </p:txBody>
      </p:sp>
      <p:cxnSp>
        <p:nvCxnSpPr>
          <p:cNvPr id="17" name="Connector 16"/>
          <p:cNvCxnSpPr/>
          <p:nvPr/>
        </p:nvCxnSpPr>
        <p:spPr>
          <a:xfrm flipH="1">
            <a:off x="1325880" y="2633472"/>
            <a:ext cx="3429000" cy="0"/>
          </a:xfrm>
          <a:prstGeom prst="line">
            <a:avLst/>
          </a:prstGeom>
          <a:ln w="19050">
            <a:solidFill>
              <a:srgbClr val="D96C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280160" y="2359152"/>
            <a:ext cx="3520440" cy="256032"/>
          </a:xfrm>
          <a:prstGeom prst="rect">
            <a:avLst/>
          </a:prstGeom>
          <a:noFill/>
        </p:spPr>
        <p:txBody>
          <a:bodyPr wrap="square" anchor="t" lIns="36576" rIns="36576" tIns="18288" bIns="18288">
            <a:spAutoFit/>
          </a:bodyPr>
          <a:lstStyle/>
          <a:p>
            <a:pPr algn="ctr"/>
            <a:r>
              <a:rPr sz="1000" b="1" i="0">
                <a:solidFill>
                  <a:srgbClr val="D96C1A"/>
                </a:solidFill>
                <a:latin typeface="Calibri"/>
              </a:rPr>
              <a:t>AuthChallenge {salt, nonce, Argon2 cost}</a:t>
            </a:r>
          </a:p>
        </p:txBody>
      </p:sp>
      <p:cxnSp>
        <p:nvCxnSpPr>
          <p:cNvPr id="19" name="Connector 18"/>
          <p:cNvCxnSpPr/>
          <p:nvPr/>
        </p:nvCxnSpPr>
        <p:spPr>
          <a:xfrm>
            <a:off x="1325880" y="3035808"/>
            <a:ext cx="3429000" cy="0"/>
          </a:xfrm>
          <a:prstGeom prst="line">
            <a:avLst/>
          </a:prstGeom>
          <a:ln w="19050">
            <a:solidFill>
              <a:srgbClr val="2F6F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280160" y="2761488"/>
            <a:ext cx="3520440" cy="256032"/>
          </a:xfrm>
          <a:prstGeom prst="rect">
            <a:avLst/>
          </a:prstGeom>
          <a:noFill/>
        </p:spPr>
        <p:txBody>
          <a:bodyPr wrap="square" anchor="t" lIns="36576" rIns="36576" tIns="18288" bIns="18288">
            <a:spAutoFit/>
          </a:bodyPr>
          <a:lstStyle/>
          <a:p>
            <a:pPr algn="ctr"/>
            <a:r>
              <a:rPr sz="1000" b="1" i="0">
                <a:solidFill>
                  <a:srgbClr val="2F6FDE"/>
                </a:solidFill>
                <a:latin typeface="Calibri"/>
              </a:rPr>
              <a:t>AuthResponse {HMAC(Argon2id hash, nonce)}</a:t>
            </a:r>
          </a:p>
        </p:txBody>
      </p:sp>
      <p:cxnSp>
        <p:nvCxnSpPr>
          <p:cNvPr id="21" name="Connector 20"/>
          <p:cNvCxnSpPr/>
          <p:nvPr/>
        </p:nvCxnSpPr>
        <p:spPr>
          <a:xfrm flipH="1">
            <a:off x="1325880" y="3438144"/>
            <a:ext cx="3429000" cy="0"/>
          </a:xfrm>
          <a:prstGeom prst="line">
            <a:avLst/>
          </a:prstGeom>
          <a:ln w="19050">
            <a:solidFill>
              <a:srgbClr val="D96C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280160" y="3163824"/>
            <a:ext cx="3520440" cy="256032"/>
          </a:xfrm>
          <a:prstGeom prst="rect">
            <a:avLst/>
          </a:prstGeom>
          <a:noFill/>
        </p:spPr>
        <p:txBody>
          <a:bodyPr wrap="square" anchor="t" lIns="36576" rIns="36576" tIns="18288" bIns="18288">
            <a:spAutoFit/>
          </a:bodyPr>
          <a:lstStyle/>
          <a:p>
            <a:pPr algn="ctr"/>
            <a:r>
              <a:rPr sz="1000" b="1" i="0">
                <a:solidFill>
                  <a:srgbClr val="D96C1A"/>
                </a:solidFill>
                <a:latin typeface="Calibri"/>
              </a:rPr>
              <a:t>AuthOk {w,h}  |  AuthFail {BadCreds | Busy}</a:t>
            </a:r>
          </a:p>
        </p:txBody>
      </p:sp>
      <p:cxnSp>
        <p:nvCxnSpPr>
          <p:cNvPr id="23" name="Connector 22"/>
          <p:cNvCxnSpPr/>
          <p:nvPr/>
        </p:nvCxnSpPr>
        <p:spPr>
          <a:xfrm>
            <a:off x="4754880" y="3840480"/>
            <a:ext cx="2331720" cy="0"/>
          </a:xfrm>
          <a:prstGeom prst="line">
            <a:avLst/>
          </a:prstGeom>
          <a:ln w="19050">
            <a:solidFill>
              <a:srgbClr val="D96C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709160" y="3566160"/>
            <a:ext cx="2423160" cy="256032"/>
          </a:xfrm>
          <a:prstGeom prst="rect">
            <a:avLst/>
          </a:prstGeom>
          <a:noFill/>
        </p:spPr>
        <p:txBody>
          <a:bodyPr wrap="square" anchor="t" lIns="36576" rIns="36576" tIns="18288" bIns="18288">
            <a:spAutoFit/>
          </a:bodyPr>
          <a:lstStyle/>
          <a:p>
            <a:pPr algn="ctr"/>
            <a:r>
              <a:rPr sz="1000" b="1" i="0">
                <a:solidFill>
                  <a:srgbClr val="D96C1A"/>
                </a:solidFill>
                <a:latin typeface="Calibri"/>
              </a:rPr>
              <a:t>grab frame</a:t>
            </a:r>
          </a:p>
        </p:txBody>
      </p:sp>
      <p:cxnSp>
        <p:nvCxnSpPr>
          <p:cNvPr id="25" name="Connector 24"/>
          <p:cNvCxnSpPr/>
          <p:nvPr/>
        </p:nvCxnSpPr>
        <p:spPr>
          <a:xfrm flipH="1">
            <a:off x="1325880" y="4242816"/>
            <a:ext cx="3429000" cy="0"/>
          </a:xfrm>
          <a:prstGeom prst="line">
            <a:avLst/>
          </a:prstGeom>
          <a:ln w="19050">
            <a:solidFill>
              <a:srgbClr val="D96C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280160" y="3968496"/>
            <a:ext cx="3520440" cy="256032"/>
          </a:xfrm>
          <a:prstGeom prst="rect">
            <a:avLst/>
          </a:prstGeom>
          <a:noFill/>
        </p:spPr>
        <p:txBody>
          <a:bodyPr wrap="square" anchor="t" lIns="36576" rIns="36576" tIns="18288" bIns="18288">
            <a:spAutoFit/>
          </a:bodyPr>
          <a:lstStyle/>
          <a:p>
            <a:pPr algn="ctr"/>
            <a:r>
              <a:rPr sz="1000" b="1" i="0">
                <a:solidFill>
                  <a:srgbClr val="D96C1A"/>
                </a:solidFill>
                <a:latin typeface="Calibri"/>
              </a:rPr>
              <a:t>VideoFrame {w, h, JPEG}   ↻ ~10 fps</a:t>
            </a:r>
          </a:p>
        </p:txBody>
      </p:sp>
      <p:cxnSp>
        <p:nvCxnSpPr>
          <p:cNvPr id="27" name="Connector 26"/>
          <p:cNvCxnSpPr/>
          <p:nvPr/>
        </p:nvCxnSpPr>
        <p:spPr>
          <a:xfrm>
            <a:off x="1325880" y="4645152"/>
            <a:ext cx="3429000" cy="0"/>
          </a:xfrm>
          <a:prstGeom prst="line">
            <a:avLst/>
          </a:prstGeom>
          <a:ln w="19050">
            <a:solidFill>
              <a:srgbClr val="2F6F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280160" y="4370832"/>
            <a:ext cx="3520440" cy="256032"/>
          </a:xfrm>
          <a:prstGeom prst="rect">
            <a:avLst/>
          </a:prstGeom>
          <a:noFill/>
        </p:spPr>
        <p:txBody>
          <a:bodyPr wrap="square" anchor="t" lIns="36576" rIns="36576" tIns="18288" bIns="18288">
            <a:spAutoFit/>
          </a:bodyPr>
          <a:lstStyle/>
          <a:p>
            <a:pPr algn="ctr"/>
            <a:r>
              <a:rPr sz="1000" b="1" i="0">
                <a:solidFill>
                  <a:srgbClr val="2F6FDE"/>
                </a:solidFill>
                <a:latin typeface="Calibri"/>
              </a:rPr>
              <a:t>Mouse {action, x, y} · Key {keysym}</a:t>
            </a:r>
          </a:p>
        </p:txBody>
      </p:sp>
      <p:cxnSp>
        <p:nvCxnSpPr>
          <p:cNvPr id="29" name="Connector 28"/>
          <p:cNvCxnSpPr/>
          <p:nvPr/>
        </p:nvCxnSpPr>
        <p:spPr>
          <a:xfrm>
            <a:off x="4754880" y="5047488"/>
            <a:ext cx="2331720" cy="0"/>
          </a:xfrm>
          <a:prstGeom prst="line">
            <a:avLst/>
          </a:prstGeom>
          <a:ln w="19050">
            <a:solidFill>
              <a:srgbClr val="D96C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709160" y="4773168"/>
            <a:ext cx="2423160" cy="256032"/>
          </a:xfrm>
          <a:prstGeom prst="rect">
            <a:avLst/>
          </a:prstGeom>
          <a:noFill/>
        </p:spPr>
        <p:txBody>
          <a:bodyPr wrap="square" anchor="t" lIns="36576" rIns="36576" tIns="18288" bIns="18288">
            <a:spAutoFit/>
          </a:bodyPr>
          <a:lstStyle/>
          <a:p>
            <a:pPr algn="ctr"/>
            <a:r>
              <a:rPr sz="1000" b="1" i="0">
                <a:solidFill>
                  <a:srgbClr val="D96C1A"/>
                </a:solidFill>
                <a:latin typeface="Calibri"/>
              </a:rPr>
              <a:t>XTest inject</a:t>
            </a:r>
          </a:p>
        </p:txBody>
      </p:sp>
      <p:cxnSp>
        <p:nvCxnSpPr>
          <p:cNvPr id="31" name="Connector 30"/>
          <p:cNvCxnSpPr/>
          <p:nvPr/>
        </p:nvCxnSpPr>
        <p:spPr>
          <a:xfrm>
            <a:off x="1325880" y="5449824"/>
            <a:ext cx="3429000" cy="0"/>
          </a:xfrm>
          <a:prstGeom prst="line">
            <a:avLst/>
          </a:prstGeom>
          <a:ln w="19050">
            <a:solidFill>
              <a:srgbClr val="0E8F7E"/>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280160" y="5175504"/>
            <a:ext cx="3520440" cy="256032"/>
          </a:xfrm>
          <a:prstGeom prst="rect">
            <a:avLst/>
          </a:prstGeom>
          <a:noFill/>
        </p:spPr>
        <p:txBody>
          <a:bodyPr wrap="square" anchor="t" lIns="36576" rIns="36576" tIns="18288" bIns="18288">
            <a:spAutoFit/>
          </a:bodyPr>
          <a:lstStyle/>
          <a:p>
            <a:pPr algn="ctr"/>
            <a:r>
              <a:rPr sz="1000" b="1" i="0">
                <a:solidFill>
                  <a:srgbClr val="0E8F7E"/>
                </a:solidFill>
                <a:latin typeface="Calibri"/>
              </a:rPr>
              <a:t>Ping ⇄ Pong  (drop after 8 s silence)</a:t>
            </a:r>
          </a:p>
        </p:txBody>
      </p:sp>
      <p:cxnSp>
        <p:nvCxnSpPr>
          <p:cNvPr id="33" name="Connector 32"/>
          <p:cNvCxnSpPr/>
          <p:nvPr/>
        </p:nvCxnSpPr>
        <p:spPr>
          <a:xfrm>
            <a:off x="1325880" y="5852160"/>
            <a:ext cx="3429000" cy="0"/>
          </a:xfrm>
          <a:prstGeom prst="line">
            <a:avLst/>
          </a:prstGeom>
          <a:ln w="19050">
            <a:solidFill>
              <a:srgbClr val="2F6F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280160" y="5577840"/>
            <a:ext cx="3520440" cy="256032"/>
          </a:xfrm>
          <a:prstGeom prst="rect">
            <a:avLst/>
          </a:prstGeom>
          <a:noFill/>
        </p:spPr>
        <p:txBody>
          <a:bodyPr wrap="square" anchor="t" lIns="36576" rIns="36576" tIns="18288" bIns="18288">
            <a:spAutoFit/>
          </a:bodyPr>
          <a:lstStyle/>
          <a:p>
            <a:pPr algn="ctr"/>
            <a:r>
              <a:rPr sz="1000" b="1" i="0">
                <a:solidFill>
                  <a:srgbClr val="2F6FDE"/>
                </a:solidFill>
                <a:latin typeface="Calibri"/>
              </a:rPr>
              <a:t>Disconnect → release session, keep listening</a:t>
            </a:r>
          </a:p>
        </p:txBody>
      </p:sp>
      <p:sp>
        <p:nvSpPr>
          <p:cNvPr id="35" name="Rounded Rectangle 34"/>
          <p:cNvSpPr/>
          <p:nvPr/>
        </p:nvSpPr>
        <p:spPr>
          <a:xfrm>
            <a:off x="91440" y="1682496"/>
            <a:ext cx="457200" cy="2029967"/>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i="0">
                <a:solidFill>
                  <a:srgbClr val="1F2A44"/>
                </a:solidFill>
                <a:latin typeface="Calibri"/>
              </a:rPr>
              <a:t>J1</a:t>
            </a:r>
          </a:p>
        </p:txBody>
      </p:sp>
      <p:sp>
        <p:nvSpPr>
          <p:cNvPr id="36" name="Rounded Rectangle 35"/>
          <p:cNvSpPr/>
          <p:nvPr/>
        </p:nvSpPr>
        <p:spPr>
          <a:xfrm>
            <a:off x="91440" y="3785615"/>
            <a:ext cx="457200" cy="1618488"/>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i="0">
                <a:solidFill>
                  <a:srgbClr val="1F2A44"/>
                </a:solidFill>
                <a:latin typeface="Calibri"/>
              </a:rPr>
              <a:t>J2</a:t>
            </a:r>
          </a:p>
        </p:txBody>
      </p:sp>
      <p:sp>
        <p:nvSpPr>
          <p:cNvPr id="37" name="Rounded Rectangle 36"/>
          <p:cNvSpPr/>
          <p:nvPr/>
        </p:nvSpPr>
        <p:spPr>
          <a:xfrm>
            <a:off x="91440" y="5477256"/>
            <a:ext cx="457200" cy="795528"/>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i="0">
                <a:solidFill>
                  <a:srgbClr val="1F2A44"/>
                </a:solidFill>
                <a:latin typeface="Calibri"/>
              </a:rPr>
              <a:t>J3</a:t>
            </a:r>
          </a:p>
        </p:txBody>
      </p:sp>
      <p:sp>
        <p:nvSpPr>
          <p:cNvPr id="38" name="Rounded Rectangle 37"/>
          <p:cNvSpPr/>
          <p:nvPr/>
        </p:nvSpPr>
        <p:spPr>
          <a:xfrm>
            <a:off x="8001000" y="1143000"/>
            <a:ext cx="3886200" cy="52578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9" name="TextBox 38"/>
          <p:cNvSpPr txBox="1"/>
          <p:nvPr/>
        </p:nvSpPr>
        <p:spPr>
          <a:xfrm>
            <a:off x="8183879" y="1234440"/>
            <a:ext cx="3566160" cy="365760"/>
          </a:xfrm>
          <a:prstGeom prst="rect">
            <a:avLst/>
          </a:prstGeom>
          <a:noFill/>
        </p:spPr>
        <p:txBody>
          <a:bodyPr wrap="square" anchor="t" lIns="36576" rIns="36576" tIns="18288" bIns="18288">
            <a:spAutoFit/>
          </a:bodyPr>
          <a:lstStyle/>
          <a:p>
            <a:pPr algn="l"/>
            <a:r>
              <a:rPr sz="1600" b="1" i="0">
                <a:solidFill>
                  <a:srgbClr val="0E8F7E"/>
                </a:solidFill>
                <a:latin typeface="Calibri"/>
              </a:rPr>
              <a:t>Security design</a:t>
            </a:r>
          </a:p>
        </p:txBody>
      </p:sp>
      <p:sp>
        <p:nvSpPr>
          <p:cNvPr id="40" name="TextBox 39"/>
          <p:cNvSpPr txBox="1"/>
          <p:nvPr/>
        </p:nvSpPr>
        <p:spPr>
          <a:xfrm>
            <a:off x="8183879" y="1627632"/>
            <a:ext cx="3566160" cy="2377440"/>
          </a:xfrm>
          <a:prstGeom prst="rect">
            <a:avLst/>
          </a:prstGeom>
          <a:noFill/>
        </p:spPr>
        <p:txBody>
          <a:bodyPr wrap="square">
            <a:spAutoFit/>
          </a:bodyPr>
          <a:lstStyle/>
          <a:p>
            <a:pPr>
              <a:spcAft>
                <a:spcPts val="300"/>
              </a:spcAft>
            </a:pPr>
            <a:r>
              <a:rPr sz="1150">
                <a:solidFill>
                  <a:srgbClr val="0E8F7E"/>
                </a:solidFill>
                <a:latin typeface="Calibri"/>
              </a:rPr>
              <a:t>▪  </a:t>
            </a:r>
            <a:r>
              <a:rPr sz="1150" b="0">
                <a:solidFill>
                  <a:srgbClr val="222833"/>
                </a:solidFill>
                <a:latin typeface="Calibri"/>
              </a:rPr>
              <a:t>Password never on the wire — only an HMAC proof over a fresh 32-byte nonce</a:t>
            </a:r>
          </a:p>
          <a:p>
            <a:pPr>
              <a:spcAft>
                <a:spcPts val="300"/>
              </a:spcAft>
            </a:pPr>
            <a:r>
              <a:rPr sz="1150">
                <a:solidFill>
                  <a:srgbClr val="0E8F7E"/>
                </a:solidFill>
                <a:latin typeface="Calibri"/>
              </a:rPr>
              <a:t>▪  </a:t>
            </a:r>
            <a:r>
              <a:rPr sz="1150" b="0">
                <a:solidFill>
                  <a:srgbClr val="222833"/>
                </a:solidFill>
                <a:latin typeface="Calibri"/>
              </a:rPr>
              <a:t>Host stores salted Argon2id hashes only (no plaintext)</a:t>
            </a:r>
          </a:p>
          <a:p>
            <a:pPr>
              <a:spcAft>
                <a:spcPts val="300"/>
              </a:spcAft>
            </a:pPr>
            <a:r>
              <a:rPr sz="1150">
                <a:solidFill>
                  <a:srgbClr val="0E8F7E"/>
                </a:solidFill>
                <a:latin typeface="Calibri"/>
              </a:rPr>
              <a:t>▪  </a:t>
            </a:r>
            <a:r>
              <a:rPr sz="1150" b="0">
                <a:solidFill>
                  <a:srgbClr val="222833"/>
                </a:solidFill>
                <a:latin typeface="Calibri"/>
              </a:rPr>
              <a:t>Constant-time compare (CRYPTO_memcmp)</a:t>
            </a:r>
          </a:p>
          <a:p>
            <a:pPr>
              <a:spcAft>
                <a:spcPts val="300"/>
              </a:spcAft>
            </a:pPr>
            <a:r>
              <a:rPr sz="1150">
                <a:solidFill>
                  <a:srgbClr val="0E8F7E"/>
                </a:solidFill>
                <a:latin typeface="Calibri"/>
              </a:rPr>
              <a:t>▪  </a:t>
            </a:r>
            <a:r>
              <a:rPr sz="1150" b="0">
                <a:solidFill>
                  <a:srgbClr val="222833"/>
                </a:solidFill>
                <a:latin typeface="Calibri"/>
              </a:rPr>
              <a:t>Unknown users get a deterministic fake salt → no username enumeration</a:t>
            </a:r>
          </a:p>
          <a:p>
            <a:pPr>
              <a:spcAft>
                <a:spcPts val="300"/>
              </a:spcAft>
            </a:pPr>
            <a:r>
              <a:rPr sz="1150">
                <a:solidFill>
                  <a:srgbClr val="0E8F7E"/>
                </a:solidFill>
                <a:latin typeface="Calibri"/>
              </a:rPr>
              <a:t>▪  </a:t>
            </a:r>
            <a:r>
              <a:rPr sz="1150" b="0">
                <a:solidFill>
                  <a:srgbClr val="222833"/>
                </a:solidFill>
                <a:latin typeface="Calibri"/>
              </a:rPr>
              <a:t>Every reconnect re-authenticates; no resume tokens</a:t>
            </a:r>
          </a:p>
        </p:txBody>
      </p:sp>
      <p:sp>
        <p:nvSpPr>
          <p:cNvPr id="41" name="TextBox 40"/>
          <p:cNvSpPr txBox="1"/>
          <p:nvPr/>
        </p:nvSpPr>
        <p:spPr>
          <a:xfrm>
            <a:off x="8183879" y="3977639"/>
            <a:ext cx="3566160" cy="365760"/>
          </a:xfrm>
          <a:prstGeom prst="rect">
            <a:avLst/>
          </a:prstGeom>
          <a:noFill/>
        </p:spPr>
        <p:txBody>
          <a:bodyPr wrap="square" anchor="t" lIns="36576" rIns="36576" tIns="18288" bIns="18288">
            <a:spAutoFit/>
          </a:bodyPr>
          <a:lstStyle/>
          <a:p>
            <a:pPr algn="l"/>
            <a:r>
              <a:rPr sz="1600" b="1" i="0">
                <a:solidFill>
                  <a:srgbClr val="0E8F7E"/>
                </a:solidFill>
                <a:latin typeface="Calibri"/>
              </a:rPr>
              <a:t>Concurrency</a:t>
            </a:r>
          </a:p>
        </p:txBody>
      </p:sp>
      <p:sp>
        <p:nvSpPr>
          <p:cNvPr id="42" name="TextBox 41"/>
          <p:cNvSpPr txBox="1"/>
          <p:nvPr/>
        </p:nvSpPr>
        <p:spPr>
          <a:xfrm>
            <a:off x="8183879" y="4370832"/>
            <a:ext cx="3566160" cy="1188720"/>
          </a:xfrm>
          <a:prstGeom prst="rect">
            <a:avLst/>
          </a:prstGeom>
          <a:noFill/>
        </p:spPr>
        <p:txBody>
          <a:bodyPr wrap="square">
            <a:spAutoFit/>
          </a:bodyPr>
          <a:lstStyle/>
          <a:p>
            <a:pPr>
              <a:spcAft>
                <a:spcPts val="300"/>
              </a:spcAft>
            </a:pPr>
            <a:r>
              <a:rPr sz="1150">
                <a:solidFill>
                  <a:srgbClr val="0E8F7E"/>
                </a:solidFill>
                <a:latin typeface="Calibri"/>
              </a:rPr>
              <a:t>▪  </a:t>
            </a:r>
            <a:r>
              <a:rPr sz="1150" b="0">
                <a:solidFill>
                  <a:srgbClr val="222833"/>
                </a:solidFill>
                <a:latin typeface="Calibri"/>
              </a:rPr>
              <a:t>Server: accept loop → session thread → capture thread; send mutex shared</a:t>
            </a:r>
          </a:p>
          <a:p>
            <a:pPr>
              <a:spcAft>
                <a:spcPts val="300"/>
              </a:spcAft>
            </a:pPr>
            <a:r>
              <a:rPr sz="1150">
                <a:solidFill>
                  <a:srgbClr val="0E8F7E"/>
                </a:solidFill>
                <a:latin typeface="Calibri"/>
              </a:rPr>
              <a:t>▪  </a:t>
            </a:r>
            <a:r>
              <a:rPr sz="1150" b="0">
                <a:solidFill>
                  <a:srgbClr val="222833"/>
                </a:solidFill>
                <a:latin typeface="Calibri"/>
              </a:rPr>
              <a:t>Client: network in SessionWorker thread, UI thread only paints</a:t>
            </a:r>
          </a:p>
          <a:p>
            <a:pPr>
              <a:spcAft>
                <a:spcPts val="300"/>
              </a:spcAft>
            </a:pPr>
            <a:r>
              <a:rPr sz="1150">
                <a:solidFill>
                  <a:srgbClr val="0E8F7E"/>
                </a:solidFill>
                <a:latin typeface="Calibri"/>
              </a:rPr>
              <a:t>▪  </a:t>
            </a:r>
            <a:r>
              <a:rPr sz="1150" b="0">
                <a:solidFill>
                  <a:srgbClr val="222833"/>
                </a:solidFill>
                <a:latin typeface="Calibri"/>
              </a:rPr>
              <a:t>Atomic session gate → second viewer is rejected, not stolen</a:t>
            </a:r>
          </a:p>
        </p:txBody>
      </p:sp>
      <p:sp>
        <p:nvSpPr>
          <p:cNvPr id="43" name="Rounded Rectangle 42"/>
          <p:cNvSpPr/>
          <p:nvPr/>
        </p:nvSpPr>
        <p:spPr>
          <a:xfrm>
            <a:off x="8183879" y="5669280"/>
            <a:ext cx="3520440" cy="594360"/>
          </a:xfrm>
          <a:prstGeom prst="roundRect">
            <a:avLst>
              <a:gd name="adj" fmla="val 8000"/>
            </a:avLst>
          </a:prstGeom>
          <a:solidFill>
            <a:srgbClr val="FFFFFF"/>
          </a:solidFill>
          <a:ln w="12700">
            <a:solidFill>
              <a:srgbClr val="C23B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050" b="1" i="0">
                <a:solidFill>
                  <a:srgbClr val="C23B3B"/>
                </a:solidFill>
                <a:latin typeface="Calibri"/>
              </a:rPr>
              <a:t>Demo gap: </a:t>
            </a:r>
            <a:r>
              <a:rPr sz="1050" b="0" i="0">
                <a:solidFill>
                  <a:srgbClr val="222833"/>
                </a:solidFill>
                <a:latin typeface="Calibri"/>
              </a:rPr>
              <a:t>client does not verify the server cert (SSL_VERIFY_NONE) — pin/verify before production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p:txBody>
      </p:sp>
      <p:sp>
        <p:nvSpPr>
          <p:cNvPr id="3" name="TextBox 2"/>
          <p:cNvSpPr txBox="1"/>
          <p:nvPr/>
        </p:nvSpPr>
        <p:spPr>
          <a:xfrm>
            <a:off x="457200" y="128016"/>
            <a:ext cx="10058400" cy="502920"/>
          </a:xfrm>
          <a:prstGeom prst="rect">
            <a:avLst/>
          </a:prstGeom>
          <a:noFill/>
        </p:spPr>
        <p:txBody>
          <a:bodyPr wrap="square" anchor="t" lIns="36576" rIns="36576" tIns="18288" bIns="18288">
            <a:spAutoFit/>
          </a:bodyPr>
          <a:lstStyle/>
          <a:p>
            <a:pPr algn="l"/>
            <a:r>
              <a:rPr sz="2800" b="1" i="0">
                <a:solidFill>
                  <a:srgbClr val="FFFFFF"/>
                </a:solidFill>
                <a:latin typeface="Calibri"/>
              </a:rPr>
              <a:t>Tech Stack, Status &amp; Roadmap</a:t>
            </a:r>
          </a:p>
        </p:txBody>
      </p:sp>
      <p:sp>
        <p:nvSpPr>
          <p:cNvPr id="4" name="TextBox 3"/>
          <p:cNvSpPr txBox="1"/>
          <p:nvPr/>
        </p:nvSpPr>
        <p:spPr>
          <a:xfrm>
            <a:off x="457200" y="566928"/>
            <a:ext cx="10515600" cy="320040"/>
          </a:xfrm>
          <a:prstGeom prst="rect">
            <a:avLst/>
          </a:prstGeom>
          <a:noFill/>
        </p:spPr>
        <p:txBody>
          <a:bodyPr wrap="square" anchor="t" lIns="36576" rIns="36576" tIns="18288" bIns="18288">
            <a:spAutoFit/>
          </a:bodyPr>
          <a:lstStyle/>
          <a:p>
            <a:pPr algn="l"/>
            <a:r>
              <a:rPr sz="1400" b="0" i="0">
                <a:solidFill>
                  <a:srgbClr val="C9D3E3"/>
                </a:solidFill>
                <a:latin typeface="Calibri"/>
              </a:rPr>
              <a:t>A working LAN demo today; production stack locked 2026-08-30</a:t>
            </a:r>
          </a:p>
        </p:txBody>
      </p:sp>
      <p:sp>
        <p:nvSpPr>
          <p:cNvPr id="5" name="TextBox 4"/>
          <p:cNvSpPr txBox="1"/>
          <p:nvPr/>
        </p:nvSpPr>
        <p:spPr>
          <a:xfrm>
            <a:off x="11155680" y="274320"/>
            <a:ext cx="731520" cy="411480"/>
          </a:xfrm>
          <a:prstGeom prst="rect">
            <a:avLst/>
          </a:prstGeom>
          <a:noFill/>
        </p:spPr>
        <p:txBody>
          <a:bodyPr wrap="square" anchor="t" lIns="36576" rIns="36576" tIns="18288" bIns="18288">
            <a:spAutoFit/>
          </a:bodyPr>
          <a:lstStyle/>
          <a:p>
            <a:pPr algn="r"/>
            <a:r>
              <a:rPr sz="1300" b="0" i="0">
                <a:solidFill>
                  <a:srgbClr val="C9D3E3"/>
                </a:solidFill>
                <a:latin typeface="Calibri"/>
              </a:rPr>
              <a:t>5 / 5</a:t>
            </a:r>
          </a:p>
        </p:txBody>
      </p:sp>
      <p:sp>
        <p:nvSpPr>
          <p:cNvPr id="6" name="TextBox 5"/>
          <p:cNvSpPr txBox="1"/>
          <p:nvPr/>
        </p:nvSpPr>
        <p:spPr>
          <a:xfrm>
            <a:off x="457200" y="6492240"/>
            <a:ext cx="7315200" cy="274320"/>
          </a:xfrm>
          <a:prstGeom prst="rect">
            <a:avLst/>
          </a:prstGeom>
          <a:noFill/>
        </p:spPr>
        <p:txBody>
          <a:bodyPr wrap="square" anchor="t" lIns="36576" rIns="36576" tIns="18288" bIns="18288">
            <a:spAutoFit/>
          </a:bodyPr>
          <a:lstStyle/>
          <a:p>
            <a:pPr algn="l"/>
            <a:r>
              <a:rPr sz="1000" b="0" i="0">
                <a:solidFill>
                  <a:srgbClr val="5F6B7A"/>
                </a:solidFill>
                <a:latin typeface="Calibri"/>
              </a:rPr>
              <a:t>PeerDesk  ·  LAN/VPN remote desktop for small teams</a:t>
            </a:r>
          </a:p>
        </p:txBody>
      </p:sp>
      <p:sp>
        <p:nvSpPr>
          <p:cNvPr id="7" name="TextBox 6"/>
          <p:cNvSpPr txBox="1"/>
          <p:nvPr/>
        </p:nvSpPr>
        <p:spPr>
          <a:xfrm>
            <a:off x="457200" y="1143000"/>
            <a:ext cx="7132320" cy="365760"/>
          </a:xfrm>
          <a:prstGeom prst="rect">
            <a:avLst/>
          </a:prstGeom>
          <a:noFill/>
        </p:spPr>
        <p:txBody>
          <a:bodyPr wrap="square" anchor="t" lIns="36576" rIns="36576" tIns="18288" bIns="18288">
            <a:spAutoFit/>
          </a:bodyPr>
          <a:lstStyle/>
          <a:p>
            <a:pPr algn="l"/>
            <a:r>
              <a:rPr sz="1600" b="1" i="0">
                <a:solidFill>
                  <a:srgbClr val="1F2A44"/>
                </a:solidFill>
                <a:latin typeface="Calibri"/>
              </a:rPr>
              <a:t>Stack: demo build vs locked production target</a:t>
            </a:r>
          </a:p>
        </p:txBody>
      </p:sp>
      <p:graphicFrame>
        <p:nvGraphicFramePr>
          <p:cNvPr id="8" name="Table 7"/>
          <p:cNvGraphicFramePr>
            <a:graphicFrameLocks noGrp="1"/>
          </p:cNvGraphicFramePr>
          <p:nvPr/>
        </p:nvGraphicFramePr>
        <p:xfrm>
          <a:off x="457200" y="1554480"/>
          <a:ext cx="7132320" cy="3931920"/>
        </p:xfrm>
        <a:graphic>
          <a:graphicData uri="http://schemas.openxmlformats.org/drawingml/2006/table">
            <a:tbl>
              <a:tblPr firstRow="1" bandRow="1">
                <a:tableStyleId>{5C22544A-7EE6-4342-B048-85BDC9FD1C3A}</a:tableStyleId>
              </a:tblPr>
              <a:tblGrid>
                <a:gridCol w="1554480"/>
                <a:gridCol w="2560320"/>
                <a:gridCol w="3017520"/>
              </a:tblGrid>
              <a:tr h="436880">
                <a:tc>
                  <a:txBody>
                    <a:bodyPr/>
                    <a:lstStyle/>
                    <a:p>
                      <a:r>
                        <a:rPr sz="1250" b="1">
                          <a:solidFill>
                            <a:srgbClr val="FFFFFF"/>
                          </a:solidFill>
                          <a:latin typeface="Calibri"/>
                        </a:rPr>
                        <a:t>Layer</a:t>
                      </a:r>
                    </a:p>
                  </a:txBody>
                  <a:tcPr marL="73152" marR="73152" anchor="ctr">
                    <a:solidFill>
                      <a:srgbClr val="1F2A44"/>
                    </a:solidFill>
                  </a:tcPr>
                </a:tc>
                <a:tc>
                  <a:txBody>
                    <a:bodyPr/>
                    <a:lstStyle/>
                    <a:p>
                      <a:r>
                        <a:rPr sz="1250" b="1">
                          <a:solidFill>
                            <a:srgbClr val="FFFFFF"/>
                          </a:solidFill>
                          <a:latin typeface="Calibri"/>
                        </a:rPr>
                        <a:t>Demo (in repo, runs today)</a:t>
                      </a:r>
                    </a:p>
                  </a:txBody>
                  <a:tcPr marL="73152" marR="73152" anchor="ctr">
                    <a:solidFill>
                      <a:srgbClr val="1F2A44"/>
                    </a:solidFill>
                  </a:tcPr>
                </a:tc>
                <a:tc>
                  <a:txBody>
                    <a:bodyPr/>
                    <a:lstStyle/>
                    <a:p>
                      <a:r>
                        <a:rPr sz="1250" b="1">
                          <a:solidFill>
                            <a:srgbClr val="FFFFFF"/>
                          </a:solidFill>
                          <a:latin typeface="Calibri"/>
                        </a:rPr>
                        <a:t>Production (locked)</a:t>
                      </a:r>
                    </a:p>
                  </a:txBody>
                  <a:tcPr marL="73152" marR="73152" anchor="ctr">
                    <a:solidFill>
                      <a:srgbClr val="1F2A44"/>
                    </a:solidFill>
                  </a:tcPr>
                </a:tc>
              </a:tr>
              <a:tr h="436880">
                <a:tc>
                  <a:txBody>
                    <a:bodyPr/>
                    <a:lstStyle/>
                    <a:p>
                      <a:r>
                        <a:rPr sz="1200" b="1">
                          <a:solidFill>
                            <a:srgbClr val="222833"/>
                          </a:solidFill>
                          <a:latin typeface="Calibri"/>
                        </a:rPr>
                        <a:t>Client UI</a:t>
                      </a:r>
                    </a:p>
                  </a:txBody>
                  <a:tcPr marL="73152" marR="73152" anchor="ctr">
                    <a:solidFill>
                      <a:srgbClr val="F3F5F8"/>
                    </a:solidFill>
                  </a:tcPr>
                </a:tc>
                <a:tc>
                  <a:txBody>
                    <a:bodyPr/>
                    <a:lstStyle/>
                    <a:p>
                      <a:r>
                        <a:rPr sz="1200" b="0">
                          <a:solidFill>
                            <a:srgbClr val="222833"/>
                          </a:solidFill>
                          <a:latin typeface="Calibri"/>
                        </a:rPr>
                        <a:t>Qt6 Widgets</a:t>
                      </a:r>
                    </a:p>
                  </a:txBody>
                  <a:tcPr marL="73152" marR="73152" anchor="ctr">
                    <a:solidFill>
                      <a:srgbClr val="F3F5F8"/>
                    </a:solidFill>
                  </a:tcPr>
                </a:tc>
                <a:tc>
                  <a:txBody>
                    <a:bodyPr/>
                    <a:lstStyle/>
                    <a:p>
                      <a:r>
                        <a:rPr sz="1200" b="0">
                          <a:solidFill>
                            <a:srgbClr val="222833"/>
                          </a:solidFill>
                          <a:latin typeface="Calibri"/>
                        </a:rPr>
                        <a:t>Qt6 Widgets  ✓ same</a:t>
                      </a:r>
                    </a:p>
                  </a:txBody>
                  <a:tcPr marL="73152" marR="73152" anchor="ctr">
                    <a:solidFill>
                      <a:srgbClr val="F3F5F8"/>
                    </a:solidFill>
                  </a:tcPr>
                </a:tc>
              </a:tr>
              <a:tr h="436880">
                <a:tc>
                  <a:txBody>
                    <a:bodyPr/>
                    <a:lstStyle/>
                    <a:p>
                      <a:r>
                        <a:rPr sz="1200" b="1">
                          <a:solidFill>
                            <a:srgbClr val="222833"/>
                          </a:solidFill>
                          <a:latin typeface="Calibri"/>
                        </a:rPr>
                        <a:t>Transport</a:t>
                      </a:r>
                    </a:p>
                  </a:txBody>
                  <a:tcPr marL="73152" marR="73152" anchor="ctr">
                    <a:solidFill>
                      <a:srgbClr val="FFFFFF"/>
                    </a:solidFill>
                  </a:tcPr>
                </a:tc>
                <a:tc>
                  <a:txBody>
                    <a:bodyPr/>
                    <a:lstStyle/>
                    <a:p>
                      <a:r>
                        <a:rPr sz="1200" b="0">
                          <a:solidFill>
                            <a:srgbClr val="222833"/>
                          </a:solidFill>
                          <a:latin typeface="Calibri"/>
                        </a:rPr>
                        <a:t>TLS 1.2+ TCP (OpenSSL)</a:t>
                      </a:r>
                    </a:p>
                  </a:txBody>
                  <a:tcPr marL="73152" marR="73152" anchor="ctr">
                    <a:solidFill>
                      <a:srgbClr val="FFFFFF"/>
                    </a:solidFill>
                  </a:tcPr>
                </a:tc>
                <a:tc>
                  <a:txBody>
                    <a:bodyPr/>
                    <a:lstStyle/>
                    <a:p>
                      <a:r>
                        <a:rPr sz="1200" b="0">
                          <a:solidFill>
                            <a:srgbClr val="222833"/>
                          </a:solidFill>
                          <a:latin typeface="Calibri"/>
                        </a:rPr>
                        <a:t>TLS 1.2+ TCP  ✓ same</a:t>
                      </a:r>
                    </a:p>
                  </a:txBody>
                  <a:tcPr marL="73152" marR="73152" anchor="ctr">
                    <a:solidFill>
                      <a:srgbClr val="FFFFFF"/>
                    </a:solidFill>
                  </a:tcPr>
                </a:tc>
              </a:tr>
              <a:tr h="436880">
                <a:tc>
                  <a:txBody>
                    <a:bodyPr/>
                    <a:lstStyle/>
                    <a:p>
                      <a:r>
                        <a:rPr sz="1200" b="1">
                          <a:solidFill>
                            <a:srgbClr val="222833"/>
                          </a:solidFill>
                          <a:latin typeface="Calibri"/>
                        </a:rPr>
                        <a:t>Wire format</a:t>
                      </a:r>
                    </a:p>
                  </a:txBody>
                  <a:tcPr marL="73152" marR="73152" anchor="ctr">
                    <a:solidFill>
                      <a:srgbClr val="F3F5F8"/>
                    </a:solidFill>
                  </a:tcPr>
                </a:tc>
                <a:tc>
                  <a:txBody>
                    <a:bodyPr/>
                    <a:lstStyle/>
                    <a:p>
                      <a:r>
                        <a:rPr sz="1200" b="0">
                          <a:solidFill>
                            <a:srgbClr val="222833"/>
                          </a:solidFill>
                          <a:latin typeface="Calibri"/>
                        </a:rPr>
                        <a:t>Packed structs</a:t>
                      </a:r>
                    </a:p>
                  </a:txBody>
                  <a:tcPr marL="73152" marR="73152" anchor="ctr">
                    <a:solidFill>
                      <a:srgbClr val="F3F5F8"/>
                    </a:solidFill>
                  </a:tcPr>
                </a:tc>
                <a:tc>
                  <a:txBody>
                    <a:bodyPr/>
                    <a:lstStyle/>
                    <a:p>
                      <a:r>
                        <a:rPr sz="1200" b="0">
                          <a:solidFill>
                            <a:srgbClr val="0E8F7E"/>
                          </a:solidFill>
                          <a:latin typeface="Calibri"/>
                        </a:rPr>
                        <a:t>Protobuf schemas</a:t>
                      </a:r>
                    </a:p>
                  </a:txBody>
                  <a:tcPr marL="73152" marR="73152" anchor="ctr">
                    <a:solidFill>
                      <a:srgbClr val="F3F5F8"/>
                    </a:solidFill>
                  </a:tcPr>
                </a:tc>
              </a:tr>
              <a:tr h="436880">
                <a:tc>
                  <a:txBody>
                    <a:bodyPr/>
                    <a:lstStyle/>
                    <a:p>
                      <a:r>
                        <a:rPr sz="1200" b="1">
                          <a:solidFill>
                            <a:srgbClr val="222833"/>
                          </a:solidFill>
                          <a:latin typeface="Calibri"/>
                        </a:rPr>
                        <a:t>Video codec</a:t>
                      </a:r>
                    </a:p>
                  </a:txBody>
                  <a:tcPr marL="73152" marR="73152" anchor="ctr">
                    <a:solidFill>
                      <a:srgbClr val="FFFFFF"/>
                    </a:solidFill>
                  </a:tcPr>
                </a:tc>
                <a:tc>
                  <a:txBody>
                    <a:bodyPr/>
                    <a:lstStyle/>
                    <a:p>
                      <a:r>
                        <a:rPr sz="1200" b="0">
                          <a:solidFill>
                            <a:srgbClr val="222833"/>
                          </a:solidFill>
                          <a:latin typeface="Calibri"/>
                        </a:rPr>
                        <a:t>JPEG (libjpeg)</a:t>
                      </a:r>
                    </a:p>
                  </a:txBody>
                  <a:tcPr marL="73152" marR="73152" anchor="ctr">
                    <a:solidFill>
                      <a:srgbClr val="FFFFFF"/>
                    </a:solidFill>
                  </a:tcPr>
                </a:tc>
                <a:tc>
                  <a:txBody>
                    <a:bodyPr/>
                    <a:lstStyle/>
                    <a:p>
                      <a:r>
                        <a:rPr sz="1200" b="0">
                          <a:solidFill>
                            <a:srgbClr val="0E8F7E"/>
                          </a:solidFill>
                          <a:latin typeface="Calibri"/>
                        </a:rPr>
                        <a:t>H.264 — FFmpeg x264 / VAAPI</a:t>
                      </a:r>
                    </a:p>
                  </a:txBody>
                  <a:tcPr marL="73152" marR="73152" anchor="ctr">
                    <a:solidFill>
                      <a:srgbClr val="FFFFFF"/>
                    </a:solidFill>
                  </a:tcPr>
                </a:tc>
              </a:tr>
              <a:tr h="436880">
                <a:tc>
                  <a:txBody>
                    <a:bodyPr/>
                    <a:lstStyle/>
                    <a:p>
                      <a:r>
                        <a:rPr sz="1200" b="1">
                          <a:solidFill>
                            <a:srgbClr val="222833"/>
                          </a:solidFill>
                          <a:latin typeface="Calibri"/>
                        </a:rPr>
                        <a:t>Capture</a:t>
                      </a:r>
                    </a:p>
                  </a:txBody>
                  <a:tcPr marL="73152" marR="73152" anchor="ctr">
                    <a:solidFill>
                      <a:srgbClr val="F3F5F8"/>
                    </a:solidFill>
                  </a:tcPr>
                </a:tc>
                <a:tc>
                  <a:txBody>
                    <a:bodyPr/>
                    <a:lstStyle/>
                    <a:p>
                      <a:r>
                        <a:rPr sz="1200" b="0">
                          <a:solidFill>
                            <a:srgbClr val="222833"/>
                          </a:solidFill>
                          <a:latin typeface="Calibri"/>
                        </a:rPr>
                        <a:t>X11 XGetImage / synthetic</a:t>
                      </a:r>
                    </a:p>
                  </a:txBody>
                  <a:tcPr marL="73152" marR="73152" anchor="ctr">
                    <a:solidFill>
                      <a:srgbClr val="F3F5F8"/>
                    </a:solidFill>
                  </a:tcPr>
                </a:tc>
                <a:tc>
                  <a:txBody>
                    <a:bodyPr/>
                    <a:lstStyle/>
                    <a:p>
                      <a:r>
                        <a:rPr sz="1200" b="0">
                          <a:solidFill>
                            <a:srgbClr val="0E8F7E"/>
                          </a:solidFill>
                          <a:latin typeface="Calibri"/>
                        </a:rPr>
                        <a:t>X11 XShm + XDamage</a:t>
                      </a:r>
                    </a:p>
                  </a:txBody>
                  <a:tcPr marL="73152" marR="73152" anchor="ctr">
                    <a:solidFill>
                      <a:srgbClr val="F3F5F8"/>
                    </a:solidFill>
                  </a:tcPr>
                </a:tc>
              </a:tr>
              <a:tr h="436880">
                <a:tc>
                  <a:txBody>
                    <a:bodyPr/>
                    <a:lstStyle/>
                    <a:p>
                      <a:r>
                        <a:rPr sz="1200" b="1">
                          <a:solidFill>
                            <a:srgbClr val="222833"/>
                          </a:solidFill>
                          <a:latin typeface="Calibri"/>
                        </a:rPr>
                        <a:t>Input inject</a:t>
                      </a:r>
                    </a:p>
                  </a:txBody>
                  <a:tcPr marL="73152" marR="73152" anchor="ctr">
                    <a:solidFill>
                      <a:srgbClr val="FFFFFF"/>
                    </a:solidFill>
                  </a:tcPr>
                </a:tc>
                <a:tc>
                  <a:txBody>
                    <a:bodyPr/>
                    <a:lstStyle/>
                    <a:p>
                      <a:r>
                        <a:rPr sz="1200" b="0">
                          <a:solidFill>
                            <a:srgbClr val="222833"/>
                          </a:solidFill>
                          <a:latin typeface="Calibri"/>
                        </a:rPr>
                        <a:t>XTest</a:t>
                      </a:r>
                    </a:p>
                  </a:txBody>
                  <a:tcPr marL="73152" marR="73152" anchor="ctr">
                    <a:solidFill>
                      <a:srgbClr val="FFFFFF"/>
                    </a:solidFill>
                  </a:tcPr>
                </a:tc>
                <a:tc>
                  <a:txBody>
                    <a:bodyPr/>
                    <a:lstStyle/>
                    <a:p>
                      <a:r>
                        <a:rPr sz="1200" b="0">
                          <a:solidFill>
                            <a:srgbClr val="222833"/>
                          </a:solidFill>
                          <a:latin typeface="Calibri"/>
                        </a:rPr>
                        <a:t>XTest  ✓ same</a:t>
                      </a:r>
                    </a:p>
                  </a:txBody>
                  <a:tcPr marL="73152" marR="73152" anchor="ctr">
                    <a:solidFill>
                      <a:srgbClr val="FFFFFF"/>
                    </a:solidFill>
                  </a:tcPr>
                </a:tc>
              </a:tr>
              <a:tr h="436880">
                <a:tc>
                  <a:txBody>
                    <a:bodyPr/>
                    <a:lstStyle/>
                    <a:p>
                      <a:r>
                        <a:rPr sz="1200" b="1">
                          <a:solidFill>
                            <a:srgbClr val="222833"/>
                          </a:solidFill>
                          <a:latin typeface="Calibri"/>
                        </a:rPr>
                        <a:t>Auth</a:t>
                      </a:r>
                    </a:p>
                  </a:txBody>
                  <a:tcPr marL="73152" marR="73152" anchor="ctr">
                    <a:solidFill>
                      <a:srgbClr val="F3F5F8"/>
                    </a:solidFill>
                  </a:tcPr>
                </a:tc>
                <a:tc>
                  <a:txBody>
                    <a:bodyPr/>
                    <a:lstStyle/>
                    <a:p>
                      <a:r>
                        <a:rPr sz="1200" b="0">
                          <a:solidFill>
                            <a:srgbClr val="222833"/>
                          </a:solidFill>
                          <a:latin typeface="Calibri"/>
                        </a:rPr>
                        <a:t>Argon2id + HMAC-SHA256</a:t>
                      </a:r>
                    </a:p>
                  </a:txBody>
                  <a:tcPr marL="73152" marR="73152" anchor="ctr">
                    <a:solidFill>
                      <a:srgbClr val="F3F5F8"/>
                    </a:solidFill>
                  </a:tcPr>
                </a:tc>
                <a:tc>
                  <a:txBody>
                    <a:bodyPr/>
                    <a:lstStyle/>
                    <a:p>
                      <a:r>
                        <a:rPr sz="1200" b="0">
                          <a:solidFill>
                            <a:srgbClr val="222833"/>
                          </a:solidFill>
                          <a:latin typeface="Calibri"/>
                        </a:rPr>
                        <a:t>Argon2id + HMAC  ✓ same</a:t>
                      </a:r>
                    </a:p>
                  </a:txBody>
                  <a:tcPr marL="73152" marR="73152" anchor="ctr">
                    <a:solidFill>
                      <a:srgbClr val="F3F5F8"/>
                    </a:solidFill>
                  </a:tcPr>
                </a:tc>
              </a:tr>
              <a:tr h="436880">
                <a:tc>
                  <a:txBody>
                    <a:bodyPr/>
                    <a:lstStyle/>
                    <a:p>
                      <a:r>
                        <a:rPr sz="1200" b="1">
                          <a:solidFill>
                            <a:srgbClr val="222833"/>
                          </a:solidFill>
                          <a:latin typeface="Calibri"/>
                        </a:rPr>
                        <a:t>Build &amp; ship</a:t>
                      </a:r>
                    </a:p>
                  </a:txBody>
                  <a:tcPr marL="73152" marR="73152" anchor="ctr">
                    <a:solidFill>
                      <a:srgbClr val="FFFFFF"/>
                    </a:solidFill>
                  </a:tcPr>
                </a:tc>
                <a:tc>
                  <a:txBody>
                    <a:bodyPr/>
                    <a:lstStyle/>
                    <a:p>
                      <a:r>
                        <a:rPr sz="1200" b="0">
                          <a:solidFill>
                            <a:srgbClr val="222833"/>
                          </a:solidFill>
                          <a:latin typeface="Calibri"/>
                        </a:rPr>
                        <a:t>CMake · run_demo.sh</a:t>
                      </a:r>
                    </a:p>
                  </a:txBody>
                  <a:tcPr marL="73152" marR="73152" anchor="ctr">
                    <a:solidFill>
                      <a:srgbClr val="FFFFFF"/>
                    </a:solidFill>
                  </a:tcPr>
                </a:tc>
                <a:tc>
                  <a:txBody>
                    <a:bodyPr/>
                    <a:lstStyle/>
                    <a:p>
                      <a:r>
                        <a:rPr sz="1200" b="0">
                          <a:solidFill>
                            <a:srgbClr val="0E8F7E"/>
                          </a:solidFill>
                          <a:latin typeface="Calibri"/>
                        </a:rPr>
                        <a:t>CMake + vcpkg/Conan · .app / .deb / AppImage</a:t>
                      </a:r>
                    </a:p>
                  </a:txBody>
                  <a:tcPr marL="73152" marR="73152" anchor="ctr">
                    <a:solidFill>
                      <a:srgbClr val="FFFFFF"/>
                    </a:solidFill>
                  </a:tcPr>
                </a:tc>
              </a:tr>
            </a:tbl>
          </a:graphicData>
        </a:graphic>
      </p:graphicFrame>
      <p:sp>
        <p:nvSpPr>
          <p:cNvPr id="9" name="TextBox 8"/>
          <p:cNvSpPr txBox="1"/>
          <p:nvPr/>
        </p:nvSpPr>
        <p:spPr>
          <a:xfrm>
            <a:off x="457200" y="5532120"/>
            <a:ext cx="7132320" cy="274320"/>
          </a:xfrm>
          <a:prstGeom prst="rect">
            <a:avLst/>
          </a:prstGeom>
          <a:noFill/>
        </p:spPr>
        <p:txBody>
          <a:bodyPr wrap="square" anchor="t" lIns="36576" rIns="36576" tIns="18288" bIns="18288">
            <a:spAutoFit/>
          </a:bodyPr>
          <a:lstStyle/>
          <a:p>
            <a:pPr algn="l"/>
            <a:r>
              <a:rPr sz="1050" b="1" i="0">
                <a:solidFill>
                  <a:srgbClr val="0E8F7E"/>
                </a:solidFill>
                <a:latin typeface="Calibri"/>
              </a:rPr>
              <a:t>Teal</a:t>
            </a:r>
            <a:r>
              <a:rPr sz="1050" b="0" i="0">
                <a:solidFill>
                  <a:srgbClr val="5F6B7A"/>
                </a:solidFill>
                <a:latin typeface="Calibri"/>
              </a:rPr>
              <a:t> = changes for production. The JPEG / packed-struct demo is throwaway, not the starter.</a:t>
            </a:r>
          </a:p>
        </p:txBody>
      </p:sp>
      <p:sp>
        <p:nvSpPr>
          <p:cNvPr id="10" name="TextBox 9"/>
          <p:cNvSpPr txBox="1"/>
          <p:nvPr/>
        </p:nvSpPr>
        <p:spPr>
          <a:xfrm>
            <a:off x="8001000" y="1143000"/>
            <a:ext cx="3840480" cy="365760"/>
          </a:xfrm>
          <a:prstGeom prst="rect">
            <a:avLst/>
          </a:prstGeom>
          <a:noFill/>
        </p:spPr>
        <p:txBody>
          <a:bodyPr wrap="square" anchor="t" lIns="36576" rIns="36576" tIns="18288" bIns="18288">
            <a:spAutoFit/>
          </a:bodyPr>
          <a:lstStyle/>
          <a:p>
            <a:pPr algn="l"/>
            <a:r>
              <a:rPr sz="1600" b="1" i="0">
                <a:solidFill>
                  <a:srgbClr val="1F2A44"/>
                </a:solidFill>
                <a:latin typeface="Calibri"/>
              </a:rPr>
              <a:t>Roadmap</a:t>
            </a:r>
          </a:p>
        </p:txBody>
      </p:sp>
      <p:sp>
        <p:nvSpPr>
          <p:cNvPr id="11" name="Rounded Rectangle 10"/>
          <p:cNvSpPr/>
          <p:nvPr/>
        </p:nvSpPr>
        <p:spPr>
          <a:xfrm>
            <a:off x="8001000" y="1572768"/>
            <a:ext cx="3840480" cy="841248"/>
          </a:xfrm>
          <a:prstGeom prst="roundRect">
            <a:avLst>
              <a:gd name="adj" fmla="val 8000"/>
            </a:avLst>
          </a:prstGeom>
          <a:solidFill>
            <a:srgbClr val="E6F6F3"/>
          </a:solidFill>
          <a:ln w="15875">
            <a:solidFill>
              <a:srgbClr val="0E8F7E"/>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solidFill>
                  <a:srgbClr val="0E8F7E"/>
                </a:solidFill>
                <a:latin typeface="Calibri"/>
              </a:rPr>
              <a:t>D0 · done (demo)</a:t>
            </a:r>
          </a:p>
          <a:p>
            <a:pPr algn="l"/>
            <a:r>
              <a:rPr sz="1100" b="0" i="0">
                <a:solidFill>
                  <a:srgbClr val="222833"/>
                </a:solidFill>
                <a:latin typeface="Calibri"/>
              </a:rPr>
              <a:t>J0 Server ready · J1 Connect &amp; auth</a:t>
            </a:r>
          </a:p>
          <a:p>
            <a:pPr algn="l"/>
            <a:r>
              <a:rPr sz="1100" b="0" i="0">
                <a:solidFill>
                  <a:srgbClr val="222833"/>
                </a:solidFill>
                <a:latin typeface="Calibri"/>
              </a:rPr>
              <a:t>J2 View &amp; control · J3 Reconnect</a:t>
            </a:r>
          </a:p>
        </p:txBody>
      </p:sp>
      <p:cxnSp>
        <p:nvCxnSpPr>
          <p:cNvPr id="12" name="Connector 11"/>
          <p:cNvCxnSpPr/>
          <p:nvPr/>
        </p:nvCxnSpPr>
        <p:spPr>
          <a:xfrm>
            <a:off x="9921240" y="2414016"/>
            <a:ext cx="0" cy="118872"/>
          </a:xfrm>
          <a:prstGeom prst="line">
            <a:avLst/>
          </a:prstGeom>
          <a:ln w="19050">
            <a:solidFill>
              <a:srgbClr val="9AA4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001000" y="2532888"/>
            <a:ext cx="3840480" cy="841248"/>
          </a:xfrm>
          <a:prstGeom prst="roundRect">
            <a:avLst>
              <a:gd name="adj" fmla="val 8000"/>
            </a:avLst>
          </a:prstGeom>
          <a:solidFill>
            <a:srgbClr val="E8F0FD"/>
          </a:solidFill>
          <a:ln w="15875">
            <a:solidFill>
              <a:srgbClr val="2F6FDE"/>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solidFill>
                  <a:srgbClr val="2F6FDE"/>
                </a:solidFill>
                <a:latin typeface="Calibri"/>
              </a:rPr>
              <a:t>Next · production</a:t>
            </a:r>
          </a:p>
          <a:p>
            <a:pPr algn="l"/>
            <a:r>
              <a:rPr sz="1100" b="0" i="0">
                <a:solidFill>
                  <a:srgbClr val="222833"/>
                </a:solidFill>
                <a:latin typeface="Calibri"/>
              </a:rPr>
              <a:t>Re-build J0–J3 on H.264 + Protobuf,</a:t>
            </a:r>
          </a:p>
          <a:p>
            <a:pPr algn="l"/>
            <a:r>
              <a:rPr sz="1100" b="0" i="0">
                <a:solidFill>
                  <a:srgbClr val="222833"/>
                </a:solidFill>
                <a:latin typeface="Calibri"/>
              </a:rPr>
              <a:t>vcpkg/Conan deps, desktop installers</a:t>
            </a:r>
          </a:p>
        </p:txBody>
      </p:sp>
      <p:cxnSp>
        <p:nvCxnSpPr>
          <p:cNvPr id="14" name="Connector 13"/>
          <p:cNvCxnSpPr/>
          <p:nvPr/>
        </p:nvCxnSpPr>
        <p:spPr>
          <a:xfrm>
            <a:off x="9921240" y="3374136"/>
            <a:ext cx="0" cy="118872"/>
          </a:xfrm>
          <a:prstGeom prst="line">
            <a:avLst/>
          </a:prstGeom>
          <a:ln w="19050">
            <a:solidFill>
              <a:srgbClr val="9AA4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01000" y="3493008"/>
            <a:ext cx="3840480" cy="841248"/>
          </a:xfrm>
          <a:prstGeom prst="roundRect">
            <a:avLst>
              <a:gd name="adj" fmla="val 8000"/>
            </a:avLst>
          </a:prstGeom>
          <a:solidFill>
            <a:srgbClr val="FDF0E6"/>
          </a:solidFill>
          <a:ln w="15875">
            <a:solidFill>
              <a:srgbClr val="D96C1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solidFill>
                  <a:srgbClr val="D96C1A"/>
                </a:solidFill>
                <a:latin typeface="Calibri"/>
              </a:rPr>
              <a:t>D1 · deferred</a:t>
            </a:r>
          </a:p>
          <a:p>
            <a:pPr algn="l"/>
            <a:r>
              <a:rPr sz="1100" b="0" i="0">
                <a:solidFill>
                  <a:srgbClr val="222833"/>
                </a:solidFill>
                <a:latin typeface="Calibri"/>
              </a:rPr>
              <a:t>J4 Saved profiles · J5 Wayland</a:t>
            </a:r>
          </a:p>
          <a:p>
            <a:pPr algn="l"/>
            <a:r>
              <a:rPr sz="1100" b="0" i="0">
                <a:solidFill>
                  <a:srgbClr val="222833"/>
                </a:solidFill>
                <a:latin typeface="Calibri"/>
              </a:rPr>
              <a:t>(PipeWire / portal) · J6 Multi-monitor</a:t>
            </a:r>
          </a:p>
        </p:txBody>
      </p:sp>
      <p:cxnSp>
        <p:nvCxnSpPr>
          <p:cNvPr id="16" name="Connector 15"/>
          <p:cNvCxnSpPr/>
          <p:nvPr/>
        </p:nvCxnSpPr>
        <p:spPr>
          <a:xfrm>
            <a:off x="9921240" y="4334256"/>
            <a:ext cx="0" cy="118872"/>
          </a:xfrm>
          <a:prstGeom prst="line">
            <a:avLst/>
          </a:prstGeom>
          <a:ln w="19050">
            <a:solidFill>
              <a:srgbClr val="9AA4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001000" y="4453128"/>
            <a:ext cx="3840480" cy="841248"/>
          </a:xfrm>
          <a:prstGeom prst="roundRect">
            <a:avLst>
              <a:gd name="adj" fmla="val 8000"/>
            </a:avLst>
          </a:prstGeom>
          <a:solidFill>
            <a:srgbClr val="FBEBEB"/>
          </a:solidFill>
          <a:ln w="15875">
            <a:solidFill>
              <a:srgbClr val="C23B3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solidFill>
                  <a:srgbClr val="C23B3B"/>
                </a:solidFill>
                <a:latin typeface="Calibri"/>
              </a:rPr>
              <a:t>Out of scope</a:t>
            </a:r>
          </a:p>
          <a:p>
            <a:pPr algn="l"/>
            <a:r>
              <a:rPr sz="1100" b="0" i="0">
                <a:solidFill>
                  <a:srgbClr val="222833"/>
                </a:solidFill>
                <a:latin typeface="Calibri"/>
              </a:rPr>
              <a:t>J7 NAT relay · files · audio</a:t>
            </a:r>
          </a:p>
          <a:p>
            <a:pPr algn="l"/>
            <a:r>
              <a:rPr sz="1100" b="0" i="0">
                <a:solidFill>
                  <a:srgbClr val="222833"/>
                </a:solidFill>
                <a:latin typeface="Calibri"/>
              </a:rPr>
              <a:t>clipboard · Mac host · mobile/web</a:t>
            </a:r>
          </a:p>
        </p:txBody>
      </p:sp>
      <p:sp>
        <p:nvSpPr>
          <p:cNvPr id="18" name="Rounded Rectangle 17"/>
          <p:cNvSpPr/>
          <p:nvPr/>
        </p:nvSpPr>
        <p:spPr>
          <a:xfrm>
            <a:off x="457200" y="5852160"/>
            <a:ext cx="11384280" cy="566928"/>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i="0">
                <a:solidFill>
                  <a:srgbClr val="FFFFFF"/>
                </a:solidFill>
                <a:latin typeface="Calibri"/>
              </a:rPr>
              <a:t>Try it   </a:t>
            </a:r>
            <a:r>
              <a:rPr sz="1050" b="0" i="0">
                <a:solidFill>
                  <a:srgbClr val="C9D3E3"/>
                </a:solidFill>
                <a:latin typeface="Consolas"/>
              </a:rPr>
              <a:t>cmake -S . -B build &amp;&amp; cmake --build build -j  ·  ./build/peerdesk-smoke  ·  ./scripts/run_demo.sh</a:t>
            </a:r>
            <a:r>
              <a:rPr sz="1100" b="0" i="0">
                <a:solidFill>
                  <a:srgbClr val="FFFFFF"/>
                </a:solidFill>
                <a:latin typeface="Calibri"/>
              </a:rPr>
              <a:t>    login jordan / peerdesk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